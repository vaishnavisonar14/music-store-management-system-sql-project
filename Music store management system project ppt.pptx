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83" r:id="rId3"/>
    <p:sldId id="284" r:id="rId4"/>
    <p:sldId id="267" r:id="rId5"/>
    <p:sldId id="268" r:id="rId6"/>
    <p:sldId id="285" r:id="rId7"/>
    <p:sldId id="286" r:id="rId8"/>
    <p:sldId id="269" r:id="rId9"/>
    <p:sldId id="270" r:id="rId10"/>
    <p:sldId id="271" r:id="rId11"/>
    <p:sldId id="272" r:id="rId12"/>
    <p:sldId id="273" r:id="rId13"/>
    <p:sldId id="274" r:id="rId14"/>
    <p:sldId id="275" r:id="rId15"/>
    <p:sldId id="276" r:id="rId16"/>
    <p:sldId id="277" r:id="rId17"/>
    <p:sldId id="278" r:id="rId18"/>
    <p:sldId id="279" r:id="rId19"/>
    <p:sldId id="281" r:id="rId20"/>
    <p:sldId id="287" r:id="rId21"/>
    <p:sldId id="282" r:id="rId22"/>
    <p:sldId id="259" r:id="rId23"/>
  </p:sldIdLst>
  <p:sldSz cx="12192000" cy="6858000"/>
  <p:notesSz cx="6858000" cy="9144000"/>
  <p:embeddedFontLst>
    <p:embeddedFont>
      <p:font typeface="Lato Black" panose="020F0502020204030203" pitchFamily="34" charset="0"/>
      <p:bold r:id="rId25"/>
      <p:boldItalic r:id="rId26"/>
    </p:embeddedFont>
    <p:embeddedFont>
      <p:font typeface="Libre Baskerville" panose="02000000000000000000" pitchFamily="2" charset="0"/>
      <p:regular r:id="rId27"/>
      <p:bold r:id="rId28"/>
      <p: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0" roundtripDataSignature="AMtx7mhnFQsu0qTBRZ+C47HNp0tuHCNk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54A5F8-039B-4D6D-AA71-2D69DE935654}" v="2" dt="2025-06-11T07:16:52.8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94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customschemas.google.com/relationships/presentationmetadata" Target="metadata"/><Relationship Id="rId35" Type="http://schemas.microsoft.com/office/2015/10/relationships/revisionInfo" Target="revisionInfo.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2477810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480290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dirty="0"/>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369570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7" name="Google Shape;27;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79843" y="-712107"/>
            <a:ext cx="12190815" cy="6694098"/>
          </a:xfrm>
          <a:prstGeom prst="rect">
            <a:avLst/>
          </a:prstGeom>
          <a:noFill/>
          <a:ln>
            <a:noFill/>
          </a:ln>
        </p:spPr>
      </p:pic>
      <p:sp>
        <p:nvSpPr>
          <p:cNvPr id="6" name="Title 5"/>
          <p:cNvSpPr>
            <a:spLocks noGrp="1"/>
          </p:cNvSpPr>
          <p:nvPr>
            <p:ph type="title"/>
          </p:nvPr>
        </p:nvSpPr>
        <p:spPr>
          <a:xfrm>
            <a:off x="1084669" y="1552704"/>
            <a:ext cx="10515600" cy="2852737"/>
          </a:xfrm>
        </p:spPr>
        <p:txBody>
          <a:bodyPr>
            <a:normAutofit/>
          </a:bodyPr>
          <a:lstStyle/>
          <a:p>
            <a:pPr algn="ctr"/>
            <a:r>
              <a:rPr lang="en-IN" sz="4800" b="1" dirty="0">
                <a:latin typeface="Times New Roman" panose="02020603050405020304" pitchFamily="18" charset="0"/>
                <a:cs typeface="Times New Roman" panose="02020603050405020304" pitchFamily="18" charset="0"/>
              </a:rPr>
              <a:t>MUSIC STORE MANAGEMENT SYSTEM</a:t>
            </a:r>
          </a:p>
        </p:txBody>
      </p:sp>
      <p:sp>
        <p:nvSpPr>
          <p:cNvPr id="3" name="TextBox 2">
            <a:extLst>
              <a:ext uri="{FF2B5EF4-FFF2-40B4-BE49-F238E27FC236}">
                <a16:creationId xmlns:a16="http://schemas.microsoft.com/office/drawing/2014/main" id="{5C953213-FAD9-111C-876D-EAB2F2E75EC9}"/>
              </a:ext>
            </a:extLst>
          </p:cNvPr>
          <p:cNvSpPr txBox="1"/>
          <p:nvPr/>
        </p:nvSpPr>
        <p:spPr>
          <a:xfrm>
            <a:off x="8583561" y="5206128"/>
            <a:ext cx="3303639" cy="677108"/>
          </a:xfrm>
          <a:prstGeom prst="rect">
            <a:avLst/>
          </a:prstGeom>
          <a:noFill/>
        </p:spPr>
        <p:txBody>
          <a:bodyPr wrap="square">
            <a:spAutoFit/>
          </a:bodyPr>
          <a:lstStyle/>
          <a:p>
            <a:r>
              <a:rPr lang="en-IN" sz="2000" b="1" dirty="0">
                <a:solidFill>
                  <a:schemeClr val="tx2">
                    <a:lumMod val="10000"/>
                  </a:schemeClr>
                </a:solidFill>
                <a:latin typeface="Times New Roman" panose="02020603050405020304" pitchFamily="18" charset="0"/>
                <a:cs typeface="Times New Roman" panose="02020603050405020304" pitchFamily="18" charset="0"/>
              </a:rPr>
              <a:t>VAISHNAVI SONAR</a:t>
            </a:r>
          </a:p>
          <a:p>
            <a:r>
              <a:rPr lang="en-IN" sz="1800" b="1" dirty="0">
                <a:solidFill>
                  <a:schemeClr val="tx1">
                    <a:lumMod val="95000"/>
                    <a:lumOff val="5000"/>
                  </a:schemeClr>
                </a:solidFill>
                <a:latin typeface="Times New Roman" panose="02020603050405020304" pitchFamily="18" charset="0"/>
                <a:cs typeface="Times New Roman" panose="02020603050405020304" pitchFamily="18" charset="0"/>
              </a:rPr>
              <a:t>Batch No</a:t>
            </a:r>
            <a:r>
              <a:rPr lang="en-IN" sz="18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IN" sz="1800" b="1" dirty="0">
                <a:solidFill>
                  <a:schemeClr val="tx1">
                    <a:lumMod val="95000"/>
                    <a:lumOff val="5000"/>
                  </a:schemeClr>
                </a:solidFill>
                <a:latin typeface="Times New Roman" panose="02020603050405020304" pitchFamily="18" charset="0"/>
                <a:cs typeface="Times New Roman" panose="02020603050405020304" pitchFamily="18" charset="0"/>
              </a:rPr>
              <a:t>380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F4F20-07D7-9532-64A3-8EDB5B85199E}"/>
              </a:ext>
            </a:extLst>
          </p:cNvPr>
          <p:cNvSpPr>
            <a:spLocks noGrp="1"/>
          </p:cNvSpPr>
          <p:nvPr>
            <p:ph type="title"/>
          </p:nvPr>
        </p:nvSpPr>
        <p:spPr>
          <a:xfrm>
            <a:off x="664701" y="982152"/>
            <a:ext cx="10515600" cy="659836"/>
          </a:xfrm>
        </p:spPr>
        <p:txBody>
          <a:bodyPr>
            <a:normAutofit fontScale="90000"/>
          </a:bodyPr>
          <a:lstStyle/>
          <a:p>
            <a:r>
              <a:rPr lang="en-IN" sz="5300" b="1" dirty="0">
                <a:solidFill>
                  <a:schemeClr val="accent2"/>
                </a:solidFill>
                <a:latin typeface="Lato Black"/>
                <a:ea typeface="Lato Black"/>
                <a:cs typeface="Lato Black"/>
                <a:sym typeface="Lato Black"/>
              </a:rPr>
              <a:t>About me</a:t>
            </a:r>
            <a:br>
              <a:rPr lang="en-IN" sz="4000" b="1" dirty="0">
                <a:solidFill>
                  <a:schemeClr val="accent2"/>
                </a:solidFill>
              </a:rPr>
            </a:br>
            <a:endParaRPr lang="en-IN" dirty="0"/>
          </a:p>
        </p:txBody>
      </p:sp>
      <p:sp>
        <p:nvSpPr>
          <p:cNvPr id="3" name="Text Placeholder 2">
            <a:extLst>
              <a:ext uri="{FF2B5EF4-FFF2-40B4-BE49-F238E27FC236}">
                <a16:creationId xmlns:a16="http://schemas.microsoft.com/office/drawing/2014/main" id="{2F0CDB04-55F7-5F05-B379-6D19A64E52A8}"/>
              </a:ext>
            </a:extLst>
          </p:cNvPr>
          <p:cNvSpPr>
            <a:spLocks noGrp="1"/>
          </p:cNvSpPr>
          <p:nvPr>
            <p:ph type="body" idx="1"/>
          </p:nvPr>
        </p:nvSpPr>
        <p:spPr>
          <a:xfrm>
            <a:off x="664701" y="816077"/>
            <a:ext cx="10682749" cy="5273573"/>
          </a:xfrm>
        </p:spPr>
        <p:txBody>
          <a:bodyPr>
            <a:normAutofit/>
          </a:bodyPr>
          <a:lstStyle/>
          <a:p>
            <a:pPr marL="342900" indent="-342900">
              <a:lnSpc>
                <a:spcPct val="150000"/>
              </a:lnSpc>
              <a:buFont typeface="Arial" panose="020B0604020202020204" pitchFamily="34" charset="0"/>
              <a:buChar char="•"/>
            </a:pPr>
            <a:r>
              <a:rPr lang="en-US" sz="1600" b="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Degree</a:t>
            </a:r>
            <a:r>
              <a:rPr lang="en-US" sz="1400" b="1" dirty="0">
                <a:solidFill>
                  <a:srgbClr val="002060"/>
                </a:solidFill>
                <a:latin typeface="Calibri" panose="020F0502020204030204" pitchFamily="34" charset="0"/>
                <a:ea typeface="Calibri" panose="020F0502020204030204" pitchFamily="34" charset="0"/>
                <a:cs typeface="Calibri" panose="020F0502020204030204" pitchFamily="34" charset="0"/>
              </a:rPr>
              <a:t>:</a:t>
            </a:r>
            <a:r>
              <a:rPr lang="en-US" sz="1800" dirty="0">
                <a:latin typeface="Calibri" panose="020F0502020204030204" pitchFamily="34" charset="0"/>
                <a:ea typeface="Calibri" panose="020F0502020204030204" pitchFamily="34" charset="0"/>
                <a:cs typeface="Calibri" panose="020F0502020204030204" pitchFamily="34" charset="0"/>
              </a:rPr>
              <a:t> </a:t>
            </a:r>
            <a:r>
              <a:rPr lang="en-US" sz="1400" dirty="0">
                <a:solidFill>
                  <a:schemeClr val="tx2">
                    <a:lumMod val="10000"/>
                  </a:schemeClr>
                </a:solidFill>
                <a:latin typeface="Times New Roman" panose="02020603050405020304" pitchFamily="18" charset="0"/>
                <a:ea typeface="Calibri" panose="020F0502020204030204" pitchFamily="34" charset="0"/>
                <a:cs typeface="Times New Roman" panose="02020603050405020304" pitchFamily="18" charset="0"/>
              </a:rPr>
              <a:t>BE </a:t>
            </a:r>
            <a:r>
              <a:rPr lang="en-US" sz="1400" b="1" dirty="0">
                <a:solidFill>
                  <a:schemeClr val="accent2"/>
                </a:solidFill>
                <a:latin typeface="Times New Roman" panose="02020603050405020304" pitchFamily="18" charset="0"/>
                <a:ea typeface="Calibri" panose="020F0502020204030204" pitchFamily="34" charset="0"/>
                <a:cs typeface="Times New Roman" panose="02020603050405020304" pitchFamily="18" charset="0"/>
              </a:rPr>
              <a:t>(ECE)</a:t>
            </a:r>
          </a:p>
          <a:p>
            <a:pPr marL="342900" indent="-342900">
              <a:lnSpc>
                <a:spcPct val="150000"/>
              </a:lnSpc>
              <a:buFont typeface="Arial" panose="020B0604020202020204" pitchFamily="34" charset="0"/>
              <a:buChar char="•"/>
            </a:pPr>
            <a:r>
              <a:rPr lang="en-US" sz="1600" b="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University:</a:t>
            </a:r>
            <a:r>
              <a:rPr lang="en-US" sz="1400" b="1"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1400" b="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PDA ENGINEERING COLLGE</a:t>
            </a:r>
            <a:endParaRPr lang="en-US" sz="14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endParaRPr>
          </a:p>
          <a:p>
            <a:pPr marL="342900" indent="-342900">
              <a:lnSpc>
                <a:spcPct val="150000"/>
              </a:lnSpc>
              <a:buFont typeface="Arial" panose="020B0604020202020204" pitchFamily="34" charset="0"/>
              <a:buChar char="•"/>
            </a:pPr>
            <a:r>
              <a:rPr lang="en-US" sz="1600" b="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Year of Graduation</a:t>
            </a:r>
            <a:r>
              <a:rPr lang="en-US" sz="1400" b="1" dirty="0">
                <a:solidFill>
                  <a:srgbClr val="002060"/>
                </a:solidFill>
                <a:latin typeface="Calibri" panose="020F0502020204030204" pitchFamily="34" charset="0"/>
                <a:ea typeface="Calibri" panose="020F0502020204030204" pitchFamily="34" charset="0"/>
                <a:cs typeface="Calibri" panose="020F0502020204030204" pitchFamily="34" charset="0"/>
              </a:rPr>
              <a:t>:</a:t>
            </a:r>
            <a:r>
              <a:rPr lang="en-US" sz="1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1400" b="1" dirty="0">
                <a:solidFill>
                  <a:schemeClr val="tx2">
                    <a:lumMod val="10000"/>
                  </a:schemeClr>
                </a:solidFill>
                <a:latin typeface="Times New Roman" panose="02020603050405020304" pitchFamily="18" charset="0"/>
                <a:ea typeface="Calibri" panose="020F0502020204030204" pitchFamily="34" charset="0"/>
                <a:cs typeface="Times New Roman" panose="02020603050405020304" pitchFamily="18" charset="0"/>
              </a:rPr>
              <a:t>2024</a:t>
            </a:r>
          </a:p>
          <a:p>
            <a:endParaRPr lang="en-IN" sz="1400" b="1" dirty="0">
              <a:solidFill>
                <a:schemeClr val="accent2"/>
              </a:solidFill>
            </a:endParaRPr>
          </a:p>
        </p:txBody>
      </p:sp>
    </p:spTree>
    <p:extLst>
      <p:ext uri="{BB962C8B-B14F-4D97-AF65-F5344CB8AC3E}">
        <p14:creationId xmlns:p14="http://schemas.microsoft.com/office/powerpoint/2010/main" val="2976383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A673E-1C0C-DC60-53BD-5A5F5435E3F6}"/>
              </a:ext>
            </a:extLst>
          </p:cNvPr>
          <p:cNvSpPr>
            <a:spLocks noGrp="1"/>
          </p:cNvSpPr>
          <p:nvPr>
            <p:ph type="title"/>
          </p:nvPr>
        </p:nvSpPr>
        <p:spPr>
          <a:xfrm>
            <a:off x="556546" y="209552"/>
            <a:ext cx="10790904" cy="718830"/>
          </a:xfrm>
        </p:spPr>
        <p:txBody>
          <a:bodyPr>
            <a:noAutofit/>
          </a:bodyPr>
          <a:lstStyle/>
          <a:p>
            <a:r>
              <a:rPr lang="en-IN" sz="4800" dirty="0">
                <a:solidFill>
                  <a:srgbClr val="C00000"/>
                </a:solidFill>
                <a:latin typeface="Times New Roman" panose="02020603050405020304" pitchFamily="18" charset="0"/>
                <a:cs typeface="Times New Roman" panose="02020603050405020304" pitchFamily="18" charset="0"/>
              </a:rPr>
              <a:t>Agenda</a:t>
            </a:r>
          </a:p>
        </p:txBody>
      </p:sp>
      <p:sp>
        <p:nvSpPr>
          <p:cNvPr id="3" name="Text Placeholder 2">
            <a:extLst>
              <a:ext uri="{FF2B5EF4-FFF2-40B4-BE49-F238E27FC236}">
                <a16:creationId xmlns:a16="http://schemas.microsoft.com/office/drawing/2014/main" id="{952ADEA2-F9DF-575D-F9C5-1AB47C0303C8}"/>
              </a:ext>
            </a:extLst>
          </p:cNvPr>
          <p:cNvSpPr>
            <a:spLocks noGrp="1"/>
          </p:cNvSpPr>
          <p:nvPr>
            <p:ph type="body" idx="1"/>
          </p:nvPr>
        </p:nvSpPr>
        <p:spPr>
          <a:xfrm>
            <a:off x="556546" y="1012723"/>
            <a:ext cx="10790904" cy="5076927"/>
          </a:xfrm>
        </p:spPr>
        <p:txBody>
          <a:bodyPr/>
          <a:lstStyle/>
          <a:p>
            <a:pPr lvl="0" indent="-431800">
              <a:buChar char="•"/>
            </a:pPr>
            <a:r>
              <a:rPr lang="en-US" dirty="0">
                <a:solidFill>
                  <a:schemeClr val="tx1"/>
                </a:solidFill>
                <a:latin typeface="Times New Roman" panose="02020603050405020304" pitchFamily="18" charset="0"/>
                <a:cs typeface="Times New Roman" panose="02020603050405020304" pitchFamily="18" charset="0"/>
              </a:rPr>
              <a:t>Objective of the Project</a:t>
            </a:r>
          </a:p>
          <a:p>
            <a:pPr lvl="0" indent="-431800">
              <a:buChar char="•"/>
            </a:pPr>
            <a:r>
              <a:rPr lang="en-US" dirty="0">
                <a:solidFill>
                  <a:schemeClr val="tx1"/>
                </a:solidFill>
                <a:latin typeface="Times New Roman" panose="02020603050405020304" pitchFamily="18" charset="0"/>
                <a:cs typeface="Times New Roman" panose="02020603050405020304" pitchFamily="18" charset="0"/>
              </a:rPr>
              <a:t>ER Diagram and schema explanation</a:t>
            </a:r>
          </a:p>
          <a:p>
            <a:pPr lvl="0" indent="-431800">
              <a:buChar char="•"/>
            </a:pPr>
            <a:r>
              <a:rPr lang="en-US" dirty="0">
                <a:solidFill>
                  <a:schemeClr val="tx1"/>
                </a:solidFill>
                <a:latin typeface="Times New Roman" panose="02020603050405020304" pitchFamily="18" charset="0"/>
                <a:cs typeface="Times New Roman" panose="02020603050405020304" pitchFamily="18" charset="0"/>
              </a:rPr>
              <a:t>Key analysis questions</a:t>
            </a:r>
          </a:p>
          <a:p>
            <a:pPr lvl="0" indent="-431800">
              <a:buChar char="•"/>
            </a:pPr>
            <a:r>
              <a:rPr lang="en-US" dirty="0">
                <a:solidFill>
                  <a:schemeClr val="tx1"/>
                </a:solidFill>
                <a:latin typeface="Times New Roman" panose="02020603050405020304" pitchFamily="18" charset="0"/>
                <a:cs typeface="Times New Roman" panose="02020603050405020304" pitchFamily="18" charset="0"/>
              </a:rPr>
              <a:t>SQL query results with screenshots or summaries</a:t>
            </a:r>
          </a:p>
          <a:p>
            <a:pPr lvl="0" indent="-431800">
              <a:buChar char="•"/>
            </a:pPr>
            <a:r>
              <a:rPr lang="en-US" dirty="0">
                <a:solidFill>
                  <a:schemeClr val="tx1"/>
                </a:solidFill>
                <a:latin typeface="Times New Roman" panose="02020603050405020304" pitchFamily="18" charset="0"/>
                <a:cs typeface="Times New Roman" panose="02020603050405020304" pitchFamily="18" charset="0"/>
              </a:rPr>
              <a:t>Final business insights and recommendations</a:t>
            </a:r>
          </a:p>
          <a:p>
            <a:pPr lvl="0" indent="-431800">
              <a:buChar char="•"/>
            </a:pPr>
            <a:r>
              <a:rPr lang="en-US" dirty="0">
                <a:solidFill>
                  <a:schemeClr val="tx1"/>
                </a:solidFill>
                <a:latin typeface="Times New Roman" panose="02020603050405020304" pitchFamily="18" charset="0"/>
                <a:cs typeface="Times New Roman" panose="02020603050405020304" pitchFamily="18" charset="0"/>
              </a:rPr>
              <a:t>Conclusion</a:t>
            </a:r>
          </a:p>
          <a:p>
            <a:pPr lvl="0" indent="-431800">
              <a:buChar char="•"/>
            </a:pPr>
            <a:r>
              <a:rPr lang="en-US" dirty="0">
                <a:solidFill>
                  <a:schemeClr val="tx1"/>
                </a:solidFill>
                <a:latin typeface="Times New Roman" panose="02020603050405020304" pitchFamily="18" charset="0"/>
                <a:cs typeface="Times New Roman" panose="02020603050405020304" pitchFamily="18" charset="0"/>
              </a:rPr>
              <a:t>Experience and Challenges working on this SQL – Data Analysis Project.</a:t>
            </a:r>
          </a:p>
          <a:p>
            <a:endParaRPr lang="en-IN" dirty="0"/>
          </a:p>
        </p:txBody>
      </p:sp>
    </p:spTree>
    <p:extLst>
      <p:ext uri="{BB962C8B-B14F-4D97-AF65-F5344CB8AC3E}">
        <p14:creationId xmlns:p14="http://schemas.microsoft.com/office/powerpoint/2010/main" val="18205309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D4DE7-FB75-5F89-6EFD-7FBA13306D77}"/>
              </a:ext>
            </a:extLst>
          </p:cNvPr>
          <p:cNvSpPr>
            <a:spLocks noGrp="1"/>
          </p:cNvSpPr>
          <p:nvPr>
            <p:ph type="title"/>
          </p:nvPr>
        </p:nvSpPr>
        <p:spPr>
          <a:xfrm>
            <a:off x="302460" y="0"/>
            <a:ext cx="10515600" cy="878306"/>
          </a:xfrm>
        </p:spPr>
        <p:txBody>
          <a:bodyPr>
            <a:normAutofit/>
          </a:bodyPr>
          <a:lstStyle/>
          <a:p>
            <a:r>
              <a:rPr lang="en-IN" sz="4800" b="1" dirty="0">
                <a:solidFill>
                  <a:srgbClr val="C00000"/>
                </a:solidFill>
                <a:latin typeface="Times New Roman" panose="02020603050405020304" pitchFamily="18" charset="0"/>
                <a:cs typeface="Times New Roman" panose="02020603050405020304" pitchFamily="18" charset="0"/>
              </a:rPr>
              <a:t>OBJECTIVE</a:t>
            </a:r>
            <a:endParaRPr lang="en-IN" sz="4800" dirty="0">
              <a:solidFill>
                <a:srgbClr val="C00000"/>
              </a:solidFill>
            </a:endParaRPr>
          </a:p>
        </p:txBody>
      </p:sp>
      <p:sp>
        <p:nvSpPr>
          <p:cNvPr id="3" name="Text Placeholder 2">
            <a:extLst>
              <a:ext uri="{FF2B5EF4-FFF2-40B4-BE49-F238E27FC236}">
                <a16:creationId xmlns:a16="http://schemas.microsoft.com/office/drawing/2014/main" id="{83D54113-00F2-BCB4-CD6E-25B782ED270F}"/>
              </a:ext>
            </a:extLst>
          </p:cNvPr>
          <p:cNvSpPr>
            <a:spLocks noGrp="1"/>
          </p:cNvSpPr>
          <p:nvPr>
            <p:ph type="body" idx="1"/>
          </p:nvPr>
        </p:nvSpPr>
        <p:spPr>
          <a:xfrm>
            <a:off x="302460" y="878307"/>
            <a:ext cx="11632866" cy="5211344"/>
          </a:xfrm>
        </p:spPr>
        <p:txBody>
          <a:bodyPr/>
          <a:lstStyle/>
          <a:p>
            <a:r>
              <a:rPr lang="en-US" sz="2000" dirty="0">
                <a:solidFill>
                  <a:schemeClr val="tx1">
                    <a:lumMod val="85000"/>
                    <a:lumOff val="15000"/>
                  </a:schemeClr>
                </a:solidFill>
                <a:latin typeface="Times New Roman" panose="02020603050405020304" pitchFamily="18" charset="0"/>
                <a:cs typeface="Times New Roman" panose="02020603050405020304" pitchFamily="18" charset="0"/>
              </a:rPr>
              <a:t>The main objective of this project is to explore and analyze the Music Store database using SQL. The project aims to:</a:t>
            </a:r>
          </a:p>
          <a:p>
            <a:pPr marL="342900" indent="-342900">
              <a:buFont typeface="Wingdings" panose="05000000000000000000" pitchFamily="2" charset="2"/>
              <a:buChar char="§"/>
            </a:pPr>
            <a:r>
              <a:rPr lang="en-US" sz="2000" dirty="0">
                <a:solidFill>
                  <a:schemeClr val="tx1">
                    <a:lumMod val="85000"/>
                    <a:lumOff val="15000"/>
                  </a:schemeClr>
                </a:solidFill>
                <a:latin typeface="Times New Roman" panose="02020603050405020304" pitchFamily="18" charset="0"/>
                <a:cs typeface="Times New Roman" panose="02020603050405020304" pitchFamily="18" charset="0"/>
              </a:rPr>
              <a:t>Understand how data is structured in a music business system.</a:t>
            </a:r>
          </a:p>
          <a:p>
            <a:pPr marL="342900" indent="-342900">
              <a:buFont typeface="Wingdings" panose="05000000000000000000" pitchFamily="2" charset="2"/>
              <a:buChar char="§"/>
            </a:pPr>
            <a:endParaRPr lang="en-US" sz="2000" dirty="0">
              <a:solidFill>
                <a:schemeClr val="tx1">
                  <a:lumMod val="85000"/>
                  <a:lumOff val="15000"/>
                </a:schemeClr>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US" sz="2000" dirty="0">
                <a:solidFill>
                  <a:schemeClr val="tx1">
                    <a:lumMod val="85000"/>
                    <a:lumOff val="15000"/>
                  </a:schemeClr>
                </a:solidFill>
                <a:latin typeface="Times New Roman" panose="02020603050405020304" pitchFamily="18" charset="0"/>
                <a:cs typeface="Times New Roman" panose="02020603050405020304" pitchFamily="18" charset="0"/>
              </a:rPr>
              <a:t>Practice writing SQL queries using joins, subqueries, aggregate functions, and filtering.</a:t>
            </a:r>
          </a:p>
          <a:p>
            <a:pPr marL="342900" indent="-342900">
              <a:buFont typeface="Wingdings" panose="05000000000000000000" pitchFamily="2" charset="2"/>
              <a:buChar char="§"/>
            </a:pPr>
            <a:endParaRPr lang="en-US" sz="2000" dirty="0">
              <a:solidFill>
                <a:schemeClr val="tx1">
                  <a:lumMod val="85000"/>
                  <a:lumOff val="15000"/>
                </a:schemeClr>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US" sz="2000" dirty="0">
                <a:solidFill>
                  <a:schemeClr val="tx1">
                    <a:lumMod val="85000"/>
                    <a:lumOff val="15000"/>
                  </a:schemeClr>
                </a:solidFill>
                <a:latin typeface="Times New Roman" panose="02020603050405020304" pitchFamily="18" charset="0"/>
                <a:cs typeface="Times New Roman" panose="02020603050405020304" pitchFamily="18" charset="0"/>
              </a:rPr>
              <a:t>Generate meaningful business insights such as:</a:t>
            </a:r>
          </a:p>
          <a:p>
            <a:endParaRPr lang="en-US" sz="2000" dirty="0">
              <a:solidFill>
                <a:schemeClr val="tx1">
                  <a:lumMod val="85000"/>
                  <a:lumOff val="15000"/>
                </a:schemeClr>
              </a:solidFill>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
            </a:pPr>
            <a:r>
              <a:rPr lang="en-US" dirty="0">
                <a:solidFill>
                  <a:schemeClr val="tx1">
                    <a:lumMod val="85000"/>
                    <a:lumOff val="15000"/>
                  </a:schemeClr>
                </a:solidFill>
                <a:latin typeface="Times New Roman" panose="02020603050405020304" pitchFamily="18" charset="0"/>
                <a:cs typeface="Times New Roman" panose="02020603050405020304" pitchFamily="18" charset="0"/>
              </a:rPr>
              <a:t>Customer spending behavior</a:t>
            </a:r>
          </a:p>
          <a:p>
            <a:pPr marL="800100" lvl="1" indent="-342900">
              <a:buFont typeface="Wingdings" panose="05000000000000000000" pitchFamily="2" charset="2"/>
              <a:buChar char="§"/>
            </a:pPr>
            <a:r>
              <a:rPr lang="en-US" dirty="0">
                <a:solidFill>
                  <a:schemeClr val="tx1">
                    <a:lumMod val="85000"/>
                    <a:lumOff val="15000"/>
                  </a:schemeClr>
                </a:solidFill>
                <a:latin typeface="Times New Roman" panose="02020603050405020304" pitchFamily="18" charset="0"/>
                <a:cs typeface="Times New Roman" panose="02020603050405020304" pitchFamily="18" charset="0"/>
              </a:rPr>
              <a:t>Top-performing genres and artists</a:t>
            </a:r>
          </a:p>
          <a:p>
            <a:pPr marL="800100" lvl="1" indent="-342900">
              <a:buFont typeface="Wingdings" panose="05000000000000000000" pitchFamily="2" charset="2"/>
              <a:buChar char="§"/>
            </a:pPr>
            <a:r>
              <a:rPr lang="en-US" dirty="0">
                <a:solidFill>
                  <a:schemeClr val="tx1">
                    <a:lumMod val="85000"/>
                    <a:lumOff val="15000"/>
                  </a:schemeClr>
                </a:solidFill>
                <a:latin typeface="Times New Roman" panose="02020603050405020304" pitchFamily="18" charset="0"/>
                <a:cs typeface="Times New Roman" panose="02020603050405020304" pitchFamily="18" charset="0"/>
              </a:rPr>
              <a:t>High-revenue cities and countries</a:t>
            </a:r>
          </a:p>
          <a:p>
            <a:pPr marL="800100" lvl="1" indent="-342900">
              <a:buFont typeface="Wingdings" panose="05000000000000000000" pitchFamily="2" charset="2"/>
              <a:buChar char="§"/>
            </a:pPr>
            <a:r>
              <a:rPr lang="en-US" dirty="0">
                <a:solidFill>
                  <a:schemeClr val="tx1">
                    <a:lumMod val="85000"/>
                    <a:lumOff val="15000"/>
                  </a:schemeClr>
                </a:solidFill>
                <a:latin typeface="Times New Roman" panose="02020603050405020304" pitchFamily="18" charset="0"/>
                <a:cs typeface="Times New Roman" panose="02020603050405020304" pitchFamily="18" charset="0"/>
              </a:rPr>
              <a:t>Best customers based on total purchases</a:t>
            </a:r>
          </a:p>
          <a:p>
            <a:endParaRPr lang="en-IN" dirty="0"/>
          </a:p>
        </p:txBody>
      </p:sp>
    </p:spTree>
    <p:extLst>
      <p:ext uri="{BB962C8B-B14F-4D97-AF65-F5344CB8AC3E}">
        <p14:creationId xmlns:p14="http://schemas.microsoft.com/office/powerpoint/2010/main" val="1740378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828D9-4F25-D2F3-B446-326B0D6DED24}"/>
              </a:ext>
            </a:extLst>
          </p:cNvPr>
          <p:cNvSpPr>
            <a:spLocks noGrp="1"/>
          </p:cNvSpPr>
          <p:nvPr>
            <p:ph type="title"/>
          </p:nvPr>
        </p:nvSpPr>
        <p:spPr>
          <a:xfrm>
            <a:off x="529389" y="341412"/>
            <a:ext cx="10818060" cy="646029"/>
          </a:xfrm>
        </p:spPr>
        <p:txBody>
          <a:bodyPr>
            <a:normAutofit fontScale="90000"/>
          </a:bodyPr>
          <a:lstStyle/>
          <a:p>
            <a:r>
              <a:rPr lang="en-IN" sz="4800" b="1" dirty="0">
                <a:solidFill>
                  <a:srgbClr val="C00000"/>
                </a:solidFill>
                <a:latin typeface="Times New Roman" panose="02020603050405020304" pitchFamily="18" charset="0"/>
                <a:cs typeface="Times New Roman" panose="02020603050405020304" pitchFamily="18" charset="0"/>
              </a:rPr>
              <a:t>ER DIAGRAM:</a:t>
            </a:r>
          </a:p>
        </p:txBody>
      </p:sp>
      <p:sp>
        <p:nvSpPr>
          <p:cNvPr id="3" name="Text Placeholder 2">
            <a:extLst>
              <a:ext uri="{FF2B5EF4-FFF2-40B4-BE49-F238E27FC236}">
                <a16:creationId xmlns:a16="http://schemas.microsoft.com/office/drawing/2014/main" id="{4AC65E90-DE80-826C-E8B8-FEEE2ADBB7AC}"/>
              </a:ext>
            </a:extLst>
          </p:cNvPr>
          <p:cNvSpPr>
            <a:spLocks noGrp="1"/>
          </p:cNvSpPr>
          <p:nvPr>
            <p:ph type="body" idx="1"/>
          </p:nvPr>
        </p:nvSpPr>
        <p:spPr>
          <a:xfrm>
            <a:off x="529389" y="1106905"/>
            <a:ext cx="10818061" cy="4982745"/>
          </a:xfrm>
          <a:ln>
            <a:solidFill>
              <a:srgbClr val="FFFFFF"/>
            </a:solidFill>
          </a:ln>
        </p:spPr>
        <p:txBody>
          <a:bodyPr/>
          <a:lstStyle/>
          <a:p>
            <a:endParaRPr lang="en-IN" dirty="0"/>
          </a:p>
        </p:txBody>
      </p:sp>
      <p:pic>
        <p:nvPicPr>
          <p:cNvPr id="4" name="Picture 3">
            <a:extLst>
              <a:ext uri="{FF2B5EF4-FFF2-40B4-BE49-F238E27FC236}">
                <a16:creationId xmlns:a16="http://schemas.microsoft.com/office/drawing/2014/main" id="{8AA23CF5-D849-4FA8-4456-C8AC604F4FD9}"/>
              </a:ext>
            </a:extLst>
          </p:cNvPr>
          <p:cNvPicPr>
            <a:picLocks noChangeAspect="1"/>
          </p:cNvPicPr>
          <p:nvPr/>
        </p:nvPicPr>
        <p:blipFill>
          <a:blip r:embed="rId2"/>
          <a:stretch>
            <a:fillRect/>
          </a:stretch>
        </p:blipFill>
        <p:spPr>
          <a:xfrm>
            <a:off x="646563" y="1226368"/>
            <a:ext cx="7143690" cy="4743817"/>
          </a:xfrm>
          <a:prstGeom prst="rect">
            <a:avLst/>
          </a:prstGeom>
          <a:ln>
            <a:solidFill>
              <a:schemeClr val="bg1"/>
            </a:solidFill>
          </a:ln>
        </p:spPr>
      </p:pic>
    </p:spTree>
    <p:extLst>
      <p:ext uri="{BB962C8B-B14F-4D97-AF65-F5344CB8AC3E}">
        <p14:creationId xmlns:p14="http://schemas.microsoft.com/office/powerpoint/2010/main" val="13443819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D4AC3-CCDB-541C-8214-1AA0C54BCBF5}"/>
              </a:ext>
            </a:extLst>
          </p:cNvPr>
          <p:cNvSpPr>
            <a:spLocks noGrp="1"/>
          </p:cNvSpPr>
          <p:nvPr>
            <p:ph type="title"/>
          </p:nvPr>
        </p:nvSpPr>
        <p:spPr>
          <a:xfrm>
            <a:off x="763024" y="167148"/>
            <a:ext cx="10515600" cy="698091"/>
          </a:xfrm>
        </p:spPr>
        <p:txBody>
          <a:bodyPr>
            <a:normAutofit fontScale="90000"/>
          </a:bodyPr>
          <a:lstStyle/>
          <a:p>
            <a:r>
              <a:rPr lang="en-IN" sz="4800" b="1" dirty="0">
                <a:solidFill>
                  <a:srgbClr val="C00000"/>
                </a:solidFill>
              </a:rPr>
              <a:t>Database Schema Explanation</a:t>
            </a:r>
            <a:endParaRPr lang="en-IN" sz="4800" dirty="0">
              <a:solidFill>
                <a:srgbClr val="C00000"/>
              </a:solidFill>
            </a:endParaRPr>
          </a:p>
        </p:txBody>
      </p:sp>
      <p:sp>
        <p:nvSpPr>
          <p:cNvPr id="3" name="Text Placeholder 2">
            <a:extLst>
              <a:ext uri="{FF2B5EF4-FFF2-40B4-BE49-F238E27FC236}">
                <a16:creationId xmlns:a16="http://schemas.microsoft.com/office/drawing/2014/main" id="{DC1018BC-AEA3-BE32-D3AF-84F3B3FAE6F0}"/>
              </a:ext>
            </a:extLst>
          </p:cNvPr>
          <p:cNvSpPr>
            <a:spLocks noGrp="1"/>
          </p:cNvSpPr>
          <p:nvPr>
            <p:ph type="body" idx="1"/>
          </p:nvPr>
        </p:nvSpPr>
        <p:spPr>
          <a:xfrm>
            <a:off x="831850" y="757085"/>
            <a:ext cx="10515600" cy="5332566"/>
          </a:xfrm>
        </p:spPr>
        <p:txBody>
          <a:bodyPr/>
          <a:lstStyle/>
          <a:p>
            <a:pPr marL="0" lvl="0" indent="0" eaLnBrk="0" fontAlgn="base" hangingPunct="0">
              <a:lnSpc>
                <a:spcPct val="200000"/>
              </a:lnSpc>
              <a:spcBef>
                <a:spcPct val="0"/>
              </a:spcBef>
              <a:spcAft>
                <a:spcPct val="0"/>
              </a:spcAft>
              <a:buClrTx/>
              <a:buSzTx/>
              <a:buFontTx/>
              <a:buChar char="•"/>
            </a:pPr>
            <a:r>
              <a:rPr lang="en-US" altLang="en-US" sz="2000" b="1" dirty="0">
                <a:solidFill>
                  <a:srgbClr val="002060"/>
                </a:solidFill>
                <a:latin typeface="Calibri" panose="020F0502020204030204" pitchFamily="34" charset="0"/>
                <a:ea typeface="Calibri" panose="020F0502020204030204" pitchFamily="34" charset="0"/>
                <a:cs typeface="Calibri" panose="020F0502020204030204" pitchFamily="34" charset="0"/>
              </a:rPr>
              <a:t>Primary Keys (PK):</a:t>
            </a:r>
            <a:r>
              <a:rPr lang="en-US" altLang="en-US" sz="2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altLang="en-US" sz="1800" dirty="0">
                <a:solidFill>
                  <a:schemeClr val="tx2">
                    <a:lumMod val="10000"/>
                  </a:schemeClr>
                </a:solidFill>
                <a:latin typeface="Calibri" panose="020F0502020204030204" pitchFamily="34" charset="0"/>
                <a:ea typeface="Calibri" panose="020F0502020204030204" pitchFamily="34" charset="0"/>
                <a:cs typeface="Calibri" panose="020F0502020204030204" pitchFamily="34" charset="0"/>
              </a:rPr>
              <a:t>Unique identifiers like </a:t>
            </a:r>
            <a:r>
              <a:rPr lang="en-US" altLang="en-US" sz="1800" dirty="0" err="1">
                <a:solidFill>
                  <a:schemeClr val="tx2">
                    <a:lumMod val="10000"/>
                  </a:schemeClr>
                </a:solidFill>
                <a:latin typeface="Calibri" panose="020F0502020204030204" pitchFamily="34" charset="0"/>
                <a:ea typeface="Calibri" panose="020F0502020204030204" pitchFamily="34" charset="0"/>
                <a:cs typeface="Calibri" panose="020F0502020204030204" pitchFamily="34" charset="0"/>
              </a:rPr>
              <a:t>artist_id</a:t>
            </a:r>
            <a:r>
              <a:rPr lang="en-US" altLang="en-US" sz="1800" dirty="0">
                <a:solidFill>
                  <a:schemeClr val="tx2">
                    <a:lumMod val="10000"/>
                  </a:schemeClr>
                </a:solidFill>
                <a:latin typeface="Calibri" panose="020F0502020204030204" pitchFamily="34" charset="0"/>
                <a:ea typeface="Calibri" panose="020F0502020204030204" pitchFamily="34" charset="0"/>
                <a:cs typeface="Calibri" panose="020F0502020204030204" pitchFamily="34" charset="0"/>
              </a:rPr>
              <a:t>, </a:t>
            </a:r>
            <a:r>
              <a:rPr lang="en-US" altLang="en-US" sz="1800" dirty="0" err="1">
                <a:solidFill>
                  <a:schemeClr val="tx2">
                    <a:lumMod val="10000"/>
                  </a:schemeClr>
                </a:solidFill>
                <a:latin typeface="Calibri" panose="020F0502020204030204" pitchFamily="34" charset="0"/>
                <a:ea typeface="Calibri" panose="020F0502020204030204" pitchFamily="34" charset="0"/>
                <a:cs typeface="Calibri" panose="020F0502020204030204" pitchFamily="34" charset="0"/>
              </a:rPr>
              <a:t>album_id</a:t>
            </a:r>
            <a:r>
              <a:rPr lang="en-US" altLang="en-US" sz="1800" dirty="0">
                <a:solidFill>
                  <a:schemeClr val="tx2">
                    <a:lumMod val="10000"/>
                  </a:schemeClr>
                </a:solidFill>
                <a:latin typeface="Calibri" panose="020F0502020204030204" pitchFamily="34" charset="0"/>
                <a:ea typeface="Calibri" panose="020F0502020204030204" pitchFamily="34" charset="0"/>
                <a:cs typeface="Calibri" panose="020F0502020204030204" pitchFamily="34" charset="0"/>
              </a:rPr>
              <a:t>, </a:t>
            </a:r>
            <a:r>
              <a:rPr lang="en-US" altLang="en-US" sz="1800" dirty="0" err="1">
                <a:solidFill>
                  <a:schemeClr val="tx2">
                    <a:lumMod val="10000"/>
                  </a:schemeClr>
                </a:solidFill>
                <a:latin typeface="Calibri" panose="020F0502020204030204" pitchFamily="34" charset="0"/>
                <a:ea typeface="Calibri" panose="020F0502020204030204" pitchFamily="34" charset="0"/>
                <a:cs typeface="Calibri" panose="020F0502020204030204" pitchFamily="34" charset="0"/>
              </a:rPr>
              <a:t>track_id</a:t>
            </a:r>
            <a:r>
              <a:rPr lang="en-US" altLang="en-US" sz="1800" dirty="0">
                <a:solidFill>
                  <a:schemeClr val="tx2">
                    <a:lumMod val="10000"/>
                  </a:schemeClr>
                </a:solidFill>
                <a:latin typeface="Calibri" panose="020F0502020204030204" pitchFamily="34" charset="0"/>
                <a:ea typeface="Calibri" panose="020F0502020204030204" pitchFamily="34" charset="0"/>
                <a:cs typeface="Calibri" panose="020F0502020204030204" pitchFamily="34" charset="0"/>
              </a:rPr>
              <a:t> ensure entity uniqueness</a:t>
            </a:r>
            <a:r>
              <a:rPr lang="en-US" altLang="en-US" sz="800" dirty="0">
                <a:solidFill>
                  <a:schemeClr val="tx1"/>
                </a:solidFill>
                <a:latin typeface="Calibri" panose="020F0502020204030204" pitchFamily="34" charset="0"/>
                <a:ea typeface="Calibri" panose="020F0502020204030204" pitchFamily="34" charset="0"/>
                <a:cs typeface="Calibri" panose="020F0502020204030204" pitchFamily="34" charset="0"/>
              </a:rPr>
              <a:t>.</a:t>
            </a:r>
            <a:endParaRPr lang="en-US" altLang="en-US" sz="18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lvl="0" indent="0" eaLnBrk="0" fontAlgn="base" hangingPunct="0">
              <a:lnSpc>
                <a:spcPct val="200000"/>
              </a:lnSpc>
              <a:spcBef>
                <a:spcPct val="0"/>
              </a:spcBef>
              <a:spcAft>
                <a:spcPct val="0"/>
              </a:spcAft>
              <a:buClrTx/>
              <a:buSzTx/>
              <a:buFontTx/>
              <a:buChar char="•"/>
            </a:pPr>
            <a:r>
              <a:rPr lang="en-US" altLang="en-US" sz="2000" b="1" dirty="0">
                <a:solidFill>
                  <a:srgbClr val="002060"/>
                </a:solidFill>
                <a:latin typeface="Calibri" panose="020F0502020204030204" pitchFamily="34" charset="0"/>
                <a:ea typeface="Calibri" panose="020F0502020204030204" pitchFamily="34" charset="0"/>
                <a:cs typeface="Calibri" panose="020F0502020204030204" pitchFamily="34" charset="0"/>
              </a:rPr>
              <a:t>Foreign Keys (FK):</a:t>
            </a:r>
            <a:r>
              <a:rPr lang="en-US" altLang="en-US" sz="2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altLang="en-US" sz="1800" dirty="0">
                <a:solidFill>
                  <a:schemeClr val="tx2">
                    <a:lumMod val="10000"/>
                  </a:schemeClr>
                </a:solidFill>
                <a:latin typeface="Calibri" panose="020F0502020204030204" pitchFamily="34" charset="0"/>
                <a:ea typeface="Calibri" panose="020F0502020204030204" pitchFamily="34" charset="0"/>
                <a:cs typeface="Calibri" panose="020F0502020204030204" pitchFamily="34" charset="0"/>
              </a:rPr>
              <a:t>Establish connections, e.g., </a:t>
            </a:r>
            <a:r>
              <a:rPr lang="en-US" altLang="en-US" sz="1800" dirty="0" err="1">
                <a:solidFill>
                  <a:schemeClr val="tx2">
                    <a:lumMod val="10000"/>
                  </a:schemeClr>
                </a:solidFill>
                <a:latin typeface="Calibri" panose="020F0502020204030204" pitchFamily="34" charset="0"/>
                <a:ea typeface="Calibri" panose="020F0502020204030204" pitchFamily="34" charset="0"/>
                <a:cs typeface="Calibri" panose="020F0502020204030204" pitchFamily="34" charset="0"/>
              </a:rPr>
              <a:t>artist_id</a:t>
            </a:r>
            <a:r>
              <a:rPr lang="en-US" altLang="en-US" sz="1800" dirty="0">
                <a:solidFill>
                  <a:schemeClr val="tx2">
                    <a:lumMod val="10000"/>
                  </a:schemeClr>
                </a:solidFill>
                <a:latin typeface="Calibri" panose="020F0502020204030204" pitchFamily="34" charset="0"/>
                <a:ea typeface="Calibri" panose="020F0502020204030204" pitchFamily="34" charset="0"/>
                <a:cs typeface="Calibri" panose="020F0502020204030204" pitchFamily="34" charset="0"/>
              </a:rPr>
              <a:t> in Album links to Artist.</a:t>
            </a:r>
          </a:p>
          <a:p>
            <a:pPr marL="0" lvl="0" indent="0" eaLnBrk="0" fontAlgn="base" hangingPunct="0">
              <a:lnSpc>
                <a:spcPct val="200000"/>
              </a:lnSpc>
              <a:spcBef>
                <a:spcPct val="0"/>
              </a:spcBef>
              <a:spcAft>
                <a:spcPct val="0"/>
              </a:spcAft>
              <a:buClrTx/>
              <a:buSzTx/>
              <a:buFontTx/>
              <a:buChar char="•"/>
            </a:pPr>
            <a:r>
              <a:rPr lang="en-US" altLang="en-US" sz="2000" b="1" dirty="0">
                <a:solidFill>
                  <a:srgbClr val="002060"/>
                </a:solidFill>
                <a:latin typeface="Calibri" panose="020F0502020204030204" pitchFamily="34" charset="0"/>
                <a:ea typeface="Calibri" panose="020F0502020204030204" pitchFamily="34" charset="0"/>
                <a:cs typeface="Calibri" panose="020F0502020204030204" pitchFamily="34" charset="0"/>
              </a:rPr>
              <a:t>Tables &amp; Columns:</a:t>
            </a:r>
            <a:endParaRPr lang="en-US" altLang="en-US" sz="20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marL="742950" lvl="1" indent="-285750" eaLnBrk="0" fontAlgn="base" hangingPunct="0">
              <a:lnSpc>
                <a:spcPct val="150000"/>
              </a:lnSpc>
              <a:spcBef>
                <a:spcPct val="0"/>
              </a:spcBef>
              <a:spcAft>
                <a:spcPct val="0"/>
              </a:spcAft>
              <a:buClrTx/>
              <a:buSzTx/>
              <a:buFont typeface="Wingdings" panose="05000000000000000000" pitchFamily="2" charset="2"/>
              <a:buChar char="v"/>
            </a:pPr>
            <a:r>
              <a:rPr lang="en-US" altLang="en-US" sz="1600" b="1" dirty="0">
                <a:solidFill>
                  <a:srgbClr val="002060"/>
                </a:solidFill>
                <a:latin typeface="Calibri" panose="020F0502020204030204" pitchFamily="34" charset="0"/>
                <a:ea typeface="Calibri" panose="020F0502020204030204" pitchFamily="34" charset="0"/>
                <a:cs typeface="Calibri" panose="020F0502020204030204" pitchFamily="34" charset="0"/>
              </a:rPr>
              <a:t>Artist:</a:t>
            </a:r>
            <a:r>
              <a:rPr lang="en-US"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altLang="en-US" sz="1400" dirty="0" err="1">
                <a:solidFill>
                  <a:schemeClr val="tx2">
                    <a:lumMod val="10000"/>
                  </a:schemeClr>
                </a:solidFill>
                <a:latin typeface="Calibri" panose="020F0502020204030204" pitchFamily="34" charset="0"/>
                <a:ea typeface="Calibri" panose="020F0502020204030204" pitchFamily="34" charset="0"/>
                <a:cs typeface="Calibri" panose="020F0502020204030204" pitchFamily="34" charset="0"/>
              </a:rPr>
              <a:t>artist_id</a:t>
            </a:r>
            <a:r>
              <a:rPr lang="en-US" altLang="en-US" sz="1400" dirty="0">
                <a:solidFill>
                  <a:schemeClr val="tx2">
                    <a:lumMod val="10000"/>
                  </a:schemeClr>
                </a:solidFill>
                <a:latin typeface="Calibri" panose="020F0502020204030204" pitchFamily="34" charset="0"/>
                <a:ea typeface="Calibri" panose="020F0502020204030204" pitchFamily="34" charset="0"/>
                <a:cs typeface="Calibri" panose="020F0502020204030204" pitchFamily="34" charset="0"/>
              </a:rPr>
              <a:t>, name</a:t>
            </a:r>
          </a:p>
          <a:p>
            <a:pPr marL="742950" lvl="1" indent="-285750" eaLnBrk="0" fontAlgn="base" hangingPunct="0">
              <a:lnSpc>
                <a:spcPct val="150000"/>
              </a:lnSpc>
              <a:spcBef>
                <a:spcPct val="0"/>
              </a:spcBef>
              <a:spcAft>
                <a:spcPct val="0"/>
              </a:spcAft>
              <a:buClrTx/>
              <a:buSzTx/>
              <a:buFont typeface="Wingdings" panose="05000000000000000000" pitchFamily="2" charset="2"/>
              <a:buChar char="v"/>
            </a:pPr>
            <a:r>
              <a:rPr lang="en-US" altLang="en-US" sz="1600" b="1" dirty="0">
                <a:solidFill>
                  <a:srgbClr val="002060"/>
                </a:solidFill>
                <a:latin typeface="Calibri" panose="020F0502020204030204" pitchFamily="34" charset="0"/>
                <a:ea typeface="Calibri" panose="020F0502020204030204" pitchFamily="34" charset="0"/>
                <a:cs typeface="Calibri" panose="020F0502020204030204" pitchFamily="34" charset="0"/>
              </a:rPr>
              <a:t>Album:</a:t>
            </a:r>
            <a:r>
              <a:rPr lang="en-US"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altLang="en-US" sz="1400" dirty="0" err="1">
                <a:solidFill>
                  <a:schemeClr val="tx1"/>
                </a:solidFill>
                <a:latin typeface="Calibri" panose="020F0502020204030204" pitchFamily="34" charset="0"/>
                <a:ea typeface="Calibri" panose="020F0502020204030204" pitchFamily="34" charset="0"/>
                <a:cs typeface="Calibri" panose="020F0502020204030204" pitchFamily="34" charset="0"/>
              </a:rPr>
              <a:t>album_id</a:t>
            </a:r>
            <a:r>
              <a:rPr lang="en-US"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 title, </a:t>
            </a:r>
            <a:r>
              <a:rPr lang="en-US" altLang="en-US" sz="1400" dirty="0" err="1">
                <a:solidFill>
                  <a:schemeClr val="tx1"/>
                </a:solidFill>
                <a:latin typeface="Calibri" panose="020F0502020204030204" pitchFamily="34" charset="0"/>
                <a:ea typeface="Calibri" panose="020F0502020204030204" pitchFamily="34" charset="0"/>
                <a:cs typeface="Calibri" panose="020F0502020204030204" pitchFamily="34" charset="0"/>
              </a:rPr>
              <a:t>artist_id</a:t>
            </a:r>
            <a:endParaRPr lang="en-US"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742950" lvl="1" indent="-285750" eaLnBrk="0" fontAlgn="base" hangingPunct="0">
              <a:lnSpc>
                <a:spcPct val="150000"/>
              </a:lnSpc>
              <a:spcBef>
                <a:spcPct val="0"/>
              </a:spcBef>
              <a:spcAft>
                <a:spcPct val="0"/>
              </a:spcAft>
              <a:buClrTx/>
              <a:buSzTx/>
              <a:buFont typeface="Wingdings" panose="05000000000000000000" pitchFamily="2" charset="2"/>
              <a:buChar char="v"/>
            </a:pPr>
            <a:r>
              <a:rPr lang="en-US" altLang="en-US" sz="1600" b="1" dirty="0">
                <a:solidFill>
                  <a:srgbClr val="002060"/>
                </a:solidFill>
                <a:latin typeface="Calibri" panose="020F0502020204030204" pitchFamily="34" charset="0"/>
                <a:ea typeface="Calibri" panose="020F0502020204030204" pitchFamily="34" charset="0"/>
                <a:cs typeface="Calibri" panose="020F0502020204030204" pitchFamily="34" charset="0"/>
              </a:rPr>
              <a:t>Track:</a:t>
            </a:r>
            <a:r>
              <a:rPr lang="en-US"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altLang="en-US" sz="1400" dirty="0" err="1">
                <a:solidFill>
                  <a:schemeClr val="tx1"/>
                </a:solidFill>
                <a:latin typeface="Calibri" panose="020F0502020204030204" pitchFamily="34" charset="0"/>
                <a:ea typeface="Calibri" panose="020F0502020204030204" pitchFamily="34" charset="0"/>
                <a:cs typeface="Calibri" panose="020F0502020204030204" pitchFamily="34" charset="0"/>
              </a:rPr>
              <a:t>track_id</a:t>
            </a:r>
            <a:r>
              <a:rPr lang="en-US"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 name, </a:t>
            </a:r>
            <a:r>
              <a:rPr lang="en-US" altLang="en-US" sz="1400" dirty="0" err="1">
                <a:solidFill>
                  <a:schemeClr val="tx1"/>
                </a:solidFill>
                <a:latin typeface="Calibri" panose="020F0502020204030204" pitchFamily="34" charset="0"/>
                <a:ea typeface="Calibri" panose="020F0502020204030204" pitchFamily="34" charset="0"/>
                <a:cs typeface="Calibri" panose="020F0502020204030204" pitchFamily="34" charset="0"/>
              </a:rPr>
              <a:t>album_id</a:t>
            </a:r>
            <a:r>
              <a:rPr lang="en-US"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altLang="en-US" sz="1400" dirty="0" err="1">
                <a:solidFill>
                  <a:schemeClr val="tx1"/>
                </a:solidFill>
                <a:latin typeface="Calibri" panose="020F0502020204030204" pitchFamily="34" charset="0"/>
                <a:ea typeface="Calibri" panose="020F0502020204030204" pitchFamily="34" charset="0"/>
                <a:cs typeface="Calibri" panose="020F0502020204030204" pitchFamily="34" charset="0"/>
              </a:rPr>
              <a:t>media_type_id</a:t>
            </a:r>
            <a:r>
              <a:rPr lang="en-US"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altLang="en-US" sz="1400" dirty="0" err="1">
                <a:solidFill>
                  <a:schemeClr val="tx1"/>
                </a:solidFill>
                <a:latin typeface="Calibri" panose="020F0502020204030204" pitchFamily="34" charset="0"/>
                <a:ea typeface="Calibri" panose="020F0502020204030204" pitchFamily="34" charset="0"/>
                <a:cs typeface="Calibri" panose="020F0502020204030204" pitchFamily="34" charset="0"/>
              </a:rPr>
              <a:t>genre_id</a:t>
            </a:r>
            <a:r>
              <a:rPr lang="en-US"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altLang="en-US" sz="1400" dirty="0" err="1">
                <a:solidFill>
                  <a:schemeClr val="tx1"/>
                </a:solidFill>
                <a:latin typeface="Calibri" panose="020F0502020204030204" pitchFamily="34" charset="0"/>
                <a:ea typeface="Calibri" panose="020F0502020204030204" pitchFamily="34" charset="0"/>
                <a:cs typeface="Calibri" panose="020F0502020204030204" pitchFamily="34" charset="0"/>
              </a:rPr>
              <a:t>unit_price</a:t>
            </a:r>
            <a:endParaRPr lang="en-US"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742950" lvl="1" indent="-285750" eaLnBrk="0" fontAlgn="base" hangingPunct="0">
              <a:lnSpc>
                <a:spcPct val="150000"/>
              </a:lnSpc>
              <a:spcBef>
                <a:spcPct val="0"/>
              </a:spcBef>
              <a:spcAft>
                <a:spcPct val="0"/>
              </a:spcAft>
              <a:buClrTx/>
              <a:buSzTx/>
              <a:buFont typeface="Wingdings" panose="05000000000000000000" pitchFamily="2" charset="2"/>
              <a:buChar char="v"/>
            </a:pPr>
            <a:r>
              <a:rPr lang="en-US" altLang="en-US" sz="1600" b="1" dirty="0">
                <a:solidFill>
                  <a:srgbClr val="002060"/>
                </a:solidFill>
                <a:latin typeface="Calibri" panose="020F0502020204030204" pitchFamily="34" charset="0"/>
                <a:ea typeface="Calibri" panose="020F0502020204030204" pitchFamily="34" charset="0"/>
                <a:cs typeface="Calibri" panose="020F0502020204030204" pitchFamily="34" charset="0"/>
              </a:rPr>
              <a:t>Customer:</a:t>
            </a:r>
            <a:r>
              <a:rPr lang="en-US" altLang="en-US" sz="1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altLang="en-US" sz="1400" dirty="0" err="1">
                <a:solidFill>
                  <a:schemeClr val="tx1"/>
                </a:solidFill>
                <a:latin typeface="Calibri" panose="020F0502020204030204" pitchFamily="34" charset="0"/>
                <a:ea typeface="Calibri" panose="020F0502020204030204" pitchFamily="34" charset="0"/>
                <a:cs typeface="Calibri" panose="020F0502020204030204" pitchFamily="34" charset="0"/>
              </a:rPr>
              <a:t>customer_id</a:t>
            </a:r>
            <a:r>
              <a:rPr lang="en-US"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altLang="en-US" sz="1400" dirty="0" err="1">
                <a:solidFill>
                  <a:schemeClr val="tx1"/>
                </a:solidFill>
                <a:latin typeface="Calibri" panose="020F0502020204030204" pitchFamily="34" charset="0"/>
                <a:ea typeface="Calibri" panose="020F0502020204030204" pitchFamily="34" charset="0"/>
                <a:cs typeface="Calibri" panose="020F0502020204030204" pitchFamily="34" charset="0"/>
              </a:rPr>
              <a:t>first_name</a:t>
            </a:r>
            <a:r>
              <a:rPr lang="en-US"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altLang="en-US" sz="1400" dirty="0" err="1">
                <a:solidFill>
                  <a:schemeClr val="tx1"/>
                </a:solidFill>
                <a:latin typeface="Calibri" panose="020F0502020204030204" pitchFamily="34" charset="0"/>
                <a:ea typeface="Calibri" panose="020F0502020204030204" pitchFamily="34" charset="0"/>
                <a:cs typeface="Calibri" panose="020F0502020204030204" pitchFamily="34" charset="0"/>
              </a:rPr>
              <a:t>last_name</a:t>
            </a:r>
            <a:r>
              <a:rPr lang="en-US"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altLang="en-US" sz="1400" dirty="0" err="1">
                <a:solidFill>
                  <a:schemeClr val="tx1"/>
                </a:solidFill>
                <a:latin typeface="Calibri" panose="020F0502020204030204" pitchFamily="34" charset="0"/>
                <a:ea typeface="Calibri" panose="020F0502020204030204" pitchFamily="34" charset="0"/>
                <a:cs typeface="Calibri" panose="020F0502020204030204" pitchFamily="34" charset="0"/>
              </a:rPr>
              <a:t>support_rep_id</a:t>
            </a:r>
            <a:endParaRPr lang="en-US"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742950" lvl="1" indent="-285750" eaLnBrk="0" fontAlgn="base" hangingPunct="0">
              <a:lnSpc>
                <a:spcPct val="150000"/>
              </a:lnSpc>
              <a:spcBef>
                <a:spcPct val="0"/>
              </a:spcBef>
              <a:spcAft>
                <a:spcPct val="0"/>
              </a:spcAft>
              <a:buClrTx/>
              <a:buSzTx/>
              <a:buFont typeface="Wingdings" panose="05000000000000000000" pitchFamily="2" charset="2"/>
              <a:buChar char="v"/>
            </a:pPr>
            <a:r>
              <a:rPr lang="en-US" altLang="en-US" sz="1600" b="1" dirty="0">
                <a:solidFill>
                  <a:srgbClr val="002060"/>
                </a:solidFill>
                <a:latin typeface="Calibri" panose="020F0502020204030204" pitchFamily="34" charset="0"/>
                <a:ea typeface="Calibri" panose="020F0502020204030204" pitchFamily="34" charset="0"/>
                <a:cs typeface="Calibri" panose="020F0502020204030204" pitchFamily="34" charset="0"/>
              </a:rPr>
              <a:t>Invoice:</a:t>
            </a:r>
            <a:r>
              <a:rPr lang="en-US" alt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altLang="en-US" sz="1400" dirty="0" err="1">
                <a:solidFill>
                  <a:schemeClr val="tx1"/>
                </a:solidFill>
                <a:latin typeface="Calibri" panose="020F0502020204030204" pitchFamily="34" charset="0"/>
                <a:ea typeface="Calibri" panose="020F0502020204030204" pitchFamily="34" charset="0"/>
                <a:cs typeface="Calibri" panose="020F0502020204030204" pitchFamily="34" charset="0"/>
              </a:rPr>
              <a:t>invoice_id</a:t>
            </a:r>
            <a:r>
              <a:rPr lang="en-US"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altLang="en-US" sz="1400" dirty="0" err="1">
                <a:solidFill>
                  <a:schemeClr val="tx1"/>
                </a:solidFill>
                <a:latin typeface="Calibri" panose="020F0502020204030204" pitchFamily="34" charset="0"/>
                <a:ea typeface="Calibri" panose="020F0502020204030204" pitchFamily="34" charset="0"/>
                <a:cs typeface="Calibri" panose="020F0502020204030204" pitchFamily="34" charset="0"/>
              </a:rPr>
              <a:t>customer_id</a:t>
            </a:r>
            <a:r>
              <a:rPr lang="en-US"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altLang="en-US" sz="1400" dirty="0" err="1">
                <a:solidFill>
                  <a:schemeClr val="tx1"/>
                </a:solidFill>
                <a:latin typeface="Calibri" panose="020F0502020204030204" pitchFamily="34" charset="0"/>
                <a:ea typeface="Calibri" panose="020F0502020204030204" pitchFamily="34" charset="0"/>
                <a:cs typeface="Calibri" panose="020F0502020204030204" pitchFamily="34" charset="0"/>
              </a:rPr>
              <a:t>invoice_date</a:t>
            </a:r>
            <a:r>
              <a:rPr lang="en-US"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 total</a:t>
            </a:r>
          </a:p>
          <a:p>
            <a:pPr marL="742950" lvl="1" indent="-285750" eaLnBrk="0" fontAlgn="base" hangingPunct="0">
              <a:lnSpc>
                <a:spcPct val="200000"/>
              </a:lnSpc>
              <a:spcBef>
                <a:spcPct val="0"/>
              </a:spcBef>
              <a:spcAft>
                <a:spcPct val="0"/>
              </a:spcAft>
              <a:buClrTx/>
              <a:buSzTx/>
              <a:buFont typeface="Wingdings" panose="05000000000000000000" pitchFamily="2" charset="2"/>
              <a:buChar char="v"/>
            </a:pPr>
            <a:r>
              <a:rPr lang="en-US" altLang="en-US" sz="1600" b="1" dirty="0">
                <a:solidFill>
                  <a:srgbClr val="002060"/>
                </a:solidFill>
                <a:latin typeface="Calibri" panose="020F0502020204030204" pitchFamily="34" charset="0"/>
                <a:ea typeface="Calibri" panose="020F0502020204030204" pitchFamily="34" charset="0"/>
                <a:cs typeface="Calibri" panose="020F0502020204030204" pitchFamily="34" charset="0"/>
              </a:rPr>
              <a:t>Invoice Line:</a:t>
            </a:r>
            <a:r>
              <a:rPr lang="en-US" alt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altLang="en-US" sz="1400" dirty="0" err="1">
                <a:solidFill>
                  <a:schemeClr val="tx1"/>
                </a:solidFill>
                <a:latin typeface="Calibri" panose="020F0502020204030204" pitchFamily="34" charset="0"/>
                <a:ea typeface="Calibri" panose="020F0502020204030204" pitchFamily="34" charset="0"/>
                <a:cs typeface="Calibri" panose="020F0502020204030204" pitchFamily="34" charset="0"/>
              </a:rPr>
              <a:t>invoice_line_id</a:t>
            </a:r>
            <a:r>
              <a:rPr lang="en-US"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altLang="en-US" sz="1400" dirty="0" err="1">
                <a:solidFill>
                  <a:schemeClr val="tx1"/>
                </a:solidFill>
                <a:latin typeface="Calibri" panose="020F0502020204030204" pitchFamily="34" charset="0"/>
                <a:ea typeface="Calibri" panose="020F0502020204030204" pitchFamily="34" charset="0"/>
                <a:cs typeface="Calibri" panose="020F0502020204030204" pitchFamily="34" charset="0"/>
              </a:rPr>
              <a:t>invoice_id</a:t>
            </a:r>
            <a:r>
              <a:rPr lang="en-US"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altLang="en-US" sz="1400" dirty="0" err="1">
                <a:solidFill>
                  <a:schemeClr val="tx1"/>
                </a:solidFill>
                <a:latin typeface="Calibri" panose="020F0502020204030204" pitchFamily="34" charset="0"/>
                <a:ea typeface="Calibri" panose="020F0502020204030204" pitchFamily="34" charset="0"/>
                <a:cs typeface="Calibri" panose="020F0502020204030204" pitchFamily="34" charset="0"/>
              </a:rPr>
              <a:t>track_id</a:t>
            </a:r>
            <a:r>
              <a:rPr lang="en-US"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altLang="en-US" sz="1400" dirty="0" err="1">
                <a:solidFill>
                  <a:schemeClr val="tx1"/>
                </a:solidFill>
                <a:latin typeface="Calibri" panose="020F0502020204030204" pitchFamily="34" charset="0"/>
                <a:ea typeface="Calibri" panose="020F0502020204030204" pitchFamily="34" charset="0"/>
                <a:cs typeface="Calibri" panose="020F0502020204030204" pitchFamily="34" charset="0"/>
              </a:rPr>
              <a:t>unit_price</a:t>
            </a:r>
            <a:r>
              <a:rPr lang="en-US"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 quantity  </a:t>
            </a:r>
            <a:r>
              <a:rPr lang="en-US" altLang="en-US" sz="1400" b="1" dirty="0">
                <a:solidFill>
                  <a:schemeClr val="accent2"/>
                </a:solidFill>
                <a:latin typeface="Calibri" panose="020F0502020204030204" pitchFamily="34" charset="0"/>
                <a:ea typeface="Calibri" panose="020F0502020204030204" pitchFamily="34" charset="0"/>
                <a:cs typeface="Calibri" panose="020F0502020204030204" pitchFamily="34" charset="0"/>
              </a:rPr>
              <a:t>and so on…</a:t>
            </a:r>
          </a:p>
          <a:p>
            <a:pPr marL="0" lvl="0" indent="0" eaLnBrk="0" fontAlgn="base" hangingPunct="0">
              <a:lnSpc>
                <a:spcPct val="200000"/>
              </a:lnSpc>
              <a:spcBef>
                <a:spcPct val="0"/>
              </a:spcBef>
              <a:spcAft>
                <a:spcPct val="0"/>
              </a:spcAft>
              <a:buClrTx/>
              <a:buSzTx/>
              <a:buFontTx/>
              <a:buChar char="•"/>
            </a:pPr>
            <a:r>
              <a:rPr lang="en-US" altLang="en-US" sz="2000" b="1" dirty="0">
                <a:solidFill>
                  <a:srgbClr val="002060"/>
                </a:solidFill>
                <a:latin typeface="Calibri" panose="020F0502020204030204" pitchFamily="34" charset="0"/>
                <a:ea typeface="Calibri" panose="020F0502020204030204" pitchFamily="34" charset="0"/>
                <a:cs typeface="Calibri" panose="020F0502020204030204" pitchFamily="34" charset="0"/>
              </a:rPr>
              <a:t>Constraints:</a:t>
            </a:r>
            <a:r>
              <a:rPr lang="en-US" altLang="en-US" sz="2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altLang="en-US" sz="1800" dirty="0">
                <a:solidFill>
                  <a:schemeClr val="tx2">
                    <a:lumMod val="10000"/>
                  </a:schemeClr>
                </a:solidFill>
                <a:latin typeface="Calibri" panose="020F0502020204030204" pitchFamily="34" charset="0"/>
                <a:ea typeface="Calibri" panose="020F0502020204030204" pitchFamily="34" charset="0"/>
                <a:cs typeface="Calibri" panose="020F0502020204030204" pitchFamily="34" charset="0"/>
              </a:rPr>
              <a:t>Auto-incremented PKs, cascade on deletes/updates for referential integrity.</a:t>
            </a:r>
          </a:p>
          <a:p>
            <a:endParaRPr lang="en-IN" dirty="0"/>
          </a:p>
        </p:txBody>
      </p:sp>
    </p:spTree>
    <p:extLst>
      <p:ext uri="{BB962C8B-B14F-4D97-AF65-F5344CB8AC3E}">
        <p14:creationId xmlns:p14="http://schemas.microsoft.com/office/powerpoint/2010/main" val="605145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10F0E-7155-11FA-DAE9-41D504B77191}"/>
              </a:ext>
            </a:extLst>
          </p:cNvPr>
          <p:cNvSpPr>
            <a:spLocks noGrp="1"/>
          </p:cNvSpPr>
          <p:nvPr>
            <p:ph type="title"/>
          </p:nvPr>
        </p:nvSpPr>
        <p:spPr>
          <a:xfrm>
            <a:off x="412955" y="209552"/>
            <a:ext cx="11189109" cy="640171"/>
          </a:xfrm>
        </p:spPr>
        <p:txBody>
          <a:bodyPr>
            <a:noAutofit/>
          </a:bodyPr>
          <a:lstStyle/>
          <a:p>
            <a:r>
              <a:rPr lang="en-US" sz="4800" b="1" dirty="0">
                <a:solidFill>
                  <a:srgbClr val="C00000"/>
                </a:solidFill>
                <a:latin typeface="Times New Roman" panose="02020603050405020304" pitchFamily="18" charset="0"/>
                <a:cs typeface="Times New Roman" panose="02020603050405020304" pitchFamily="18" charset="0"/>
              </a:rPr>
              <a:t>Key Analysis Questions (use cases)</a:t>
            </a:r>
            <a:endParaRPr lang="en-IN" sz="4800" dirty="0"/>
          </a:p>
        </p:txBody>
      </p:sp>
      <p:sp>
        <p:nvSpPr>
          <p:cNvPr id="3" name="Text Placeholder 2">
            <a:extLst>
              <a:ext uri="{FF2B5EF4-FFF2-40B4-BE49-F238E27FC236}">
                <a16:creationId xmlns:a16="http://schemas.microsoft.com/office/drawing/2014/main" id="{9A270F49-4974-D3A2-6771-AA04987AF2E1}"/>
              </a:ext>
            </a:extLst>
          </p:cNvPr>
          <p:cNvSpPr>
            <a:spLocks noGrp="1"/>
          </p:cNvSpPr>
          <p:nvPr>
            <p:ph type="body" idx="1"/>
          </p:nvPr>
        </p:nvSpPr>
        <p:spPr>
          <a:xfrm>
            <a:off x="589935" y="849723"/>
            <a:ext cx="11189109" cy="5239927"/>
          </a:xfrm>
        </p:spPr>
        <p:txBody>
          <a:bodyPr>
            <a:normAutofit fontScale="25000" lnSpcReduction="20000"/>
          </a:bodyPr>
          <a:lstStyle/>
          <a:p>
            <a:pPr marL="1143000" indent="-914400">
              <a:buFont typeface="+mj-lt"/>
              <a:buAutoNum type="arabicPeriod"/>
            </a:pPr>
            <a:r>
              <a:rPr lang="en-US" sz="6400" dirty="0">
                <a:solidFill>
                  <a:schemeClr val="tx1"/>
                </a:solidFill>
                <a:latin typeface="Times New Roman" panose="02020603050405020304" pitchFamily="18" charset="0"/>
                <a:cs typeface="Times New Roman" panose="02020603050405020304" pitchFamily="18" charset="0"/>
              </a:rPr>
              <a:t>Who is the senior most employee based on job title? </a:t>
            </a:r>
          </a:p>
          <a:p>
            <a:pPr marL="1143000" indent="-914400">
              <a:buFont typeface="+mj-lt"/>
              <a:buAutoNum type="arabicPeriod"/>
            </a:pPr>
            <a:r>
              <a:rPr lang="en-US" sz="6400" dirty="0">
                <a:solidFill>
                  <a:schemeClr val="tx1"/>
                </a:solidFill>
                <a:latin typeface="Times New Roman" panose="02020603050405020304" pitchFamily="18" charset="0"/>
                <a:cs typeface="Times New Roman" panose="02020603050405020304" pitchFamily="18" charset="0"/>
              </a:rPr>
              <a:t>Which countries have the most Invoices?</a:t>
            </a:r>
          </a:p>
          <a:p>
            <a:pPr marL="1143000" indent="-914400">
              <a:buFont typeface="+mj-lt"/>
              <a:buAutoNum type="arabicPeriod"/>
            </a:pPr>
            <a:r>
              <a:rPr lang="en-US" sz="6400" dirty="0">
                <a:solidFill>
                  <a:schemeClr val="tx1"/>
                </a:solidFill>
                <a:latin typeface="Times New Roman" panose="02020603050405020304" pitchFamily="18" charset="0"/>
                <a:cs typeface="Times New Roman" panose="02020603050405020304" pitchFamily="18" charset="0"/>
              </a:rPr>
              <a:t>What are the top 3 values of total invoice?</a:t>
            </a:r>
          </a:p>
          <a:p>
            <a:pPr marL="1143000" indent="-914400">
              <a:buFont typeface="+mj-lt"/>
              <a:buAutoNum type="arabicPeriod"/>
            </a:pPr>
            <a:r>
              <a:rPr lang="en-IN" sz="6400" dirty="0">
                <a:solidFill>
                  <a:schemeClr val="tx1"/>
                </a:solidFill>
                <a:latin typeface="Times New Roman" panose="02020603050405020304" pitchFamily="18" charset="0"/>
                <a:cs typeface="Times New Roman" panose="02020603050405020304" pitchFamily="18" charset="0"/>
              </a:rPr>
              <a:t> </a:t>
            </a:r>
            <a:r>
              <a:rPr lang="en-US" sz="6400" dirty="0">
                <a:solidFill>
                  <a:schemeClr val="tx1"/>
                </a:solidFill>
                <a:latin typeface="Times New Roman" panose="02020603050405020304" pitchFamily="18" charset="0"/>
                <a:cs typeface="Times New Roman" panose="02020603050405020304" pitchFamily="18" charset="0"/>
              </a:rPr>
              <a:t>Which city has the best customers? - We would like to throw a promotional Music Festival in the city we made the most money. Write a query that returns one city that has the highest sum of invoice totals. Return both the city name &amp; sum of all invoice totals</a:t>
            </a:r>
          </a:p>
          <a:p>
            <a:pPr marL="1143000" indent="-914400">
              <a:buFont typeface="+mj-lt"/>
              <a:buAutoNum type="arabicPeriod"/>
            </a:pPr>
            <a:r>
              <a:rPr lang="en-IN" sz="6400" dirty="0">
                <a:solidFill>
                  <a:schemeClr val="tx1"/>
                </a:solidFill>
                <a:latin typeface="Times New Roman" panose="02020603050405020304" pitchFamily="18" charset="0"/>
                <a:cs typeface="Times New Roman" panose="02020603050405020304" pitchFamily="18" charset="0"/>
              </a:rPr>
              <a:t> </a:t>
            </a:r>
            <a:r>
              <a:rPr lang="en-US" sz="6400" dirty="0">
                <a:solidFill>
                  <a:schemeClr val="tx1"/>
                </a:solidFill>
                <a:latin typeface="Times New Roman" panose="02020603050405020304" pitchFamily="18" charset="0"/>
                <a:cs typeface="Times New Roman" panose="02020603050405020304" pitchFamily="18" charset="0"/>
              </a:rPr>
              <a:t>Who is the best customer? - The customer who has spent the most money will be declared the best customer. Write a query that returns the person who has spent the most money</a:t>
            </a:r>
          </a:p>
          <a:p>
            <a:pPr marL="1143000" indent="-914400">
              <a:buFont typeface="+mj-lt"/>
              <a:buAutoNum type="arabicPeriod"/>
            </a:pPr>
            <a:r>
              <a:rPr lang="en-IN" sz="6400" dirty="0">
                <a:solidFill>
                  <a:schemeClr val="tx1"/>
                </a:solidFill>
                <a:latin typeface="Times New Roman" panose="02020603050405020304" pitchFamily="18" charset="0"/>
                <a:cs typeface="Times New Roman" panose="02020603050405020304" pitchFamily="18" charset="0"/>
              </a:rPr>
              <a:t> </a:t>
            </a:r>
            <a:r>
              <a:rPr lang="en-US" sz="6400" dirty="0">
                <a:solidFill>
                  <a:schemeClr val="tx1"/>
                </a:solidFill>
                <a:latin typeface="Times New Roman" panose="02020603050405020304" pitchFamily="18" charset="0"/>
                <a:cs typeface="Times New Roman" panose="02020603050405020304" pitchFamily="18" charset="0"/>
              </a:rPr>
              <a:t>Write a query to return the email, first name, last name, &amp; Genre of all Rock Music listeners. Return your list ordered alphabetically by email starting with A</a:t>
            </a:r>
          </a:p>
          <a:p>
            <a:pPr marL="1143000" indent="-914400">
              <a:buFont typeface="+mj-lt"/>
              <a:buAutoNum type="arabicPeriod"/>
            </a:pPr>
            <a:r>
              <a:rPr lang="en-IN" sz="6400" dirty="0">
                <a:solidFill>
                  <a:schemeClr val="tx1"/>
                </a:solidFill>
                <a:latin typeface="Times New Roman" panose="02020603050405020304" pitchFamily="18" charset="0"/>
                <a:cs typeface="Times New Roman" panose="02020603050405020304" pitchFamily="18" charset="0"/>
              </a:rPr>
              <a:t> </a:t>
            </a:r>
            <a:r>
              <a:rPr lang="en-US" sz="6400" dirty="0">
                <a:solidFill>
                  <a:schemeClr val="tx1"/>
                </a:solidFill>
                <a:latin typeface="Times New Roman" panose="02020603050405020304" pitchFamily="18" charset="0"/>
                <a:cs typeface="Times New Roman" panose="02020603050405020304" pitchFamily="18" charset="0"/>
              </a:rPr>
              <a:t>Let's invite the artists who have written the most rock music in our dataset. Write a query that returns the Artist name and total track count of the top 10 rock bands </a:t>
            </a:r>
          </a:p>
          <a:p>
            <a:pPr marL="1143000" indent="-914400">
              <a:buFont typeface="+mj-lt"/>
              <a:buAutoNum type="arabicPeriod"/>
            </a:pPr>
            <a:r>
              <a:rPr lang="en-IN" sz="6400" dirty="0">
                <a:solidFill>
                  <a:schemeClr val="tx1"/>
                </a:solidFill>
                <a:latin typeface="Times New Roman" panose="02020603050405020304" pitchFamily="18" charset="0"/>
                <a:cs typeface="Times New Roman" panose="02020603050405020304" pitchFamily="18" charset="0"/>
              </a:rPr>
              <a:t> </a:t>
            </a:r>
            <a:r>
              <a:rPr lang="en-US" sz="6400" dirty="0">
                <a:solidFill>
                  <a:schemeClr val="tx1"/>
                </a:solidFill>
                <a:latin typeface="Times New Roman" panose="02020603050405020304" pitchFamily="18" charset="0"/>
                <a:cs typeface="Times New Roman" panose="02020603050405020304" pitchFamily="18" charset="0"/>
              </a:rPr>
              <a:t>Return all the track names that have a song length longer than the average song length.- Return the Name and Milliseconds for each track. Order by the song length, with the longest songs listed first</a:t>
            </a:r>
          </a:p>
          <a:p>
            <a:pPr marL="1143000" indent="-914400">
              <a:buFont typeface="+mj-lt"/>
              <a:buAutoNum type="arabicPeriod"/>
            </a:pPr>
            <a:r>
              <a:rPr lang="en-IN" sz="6400" dirty="0">
                <a:solidFill>
                  <a:schemeClr val="tx1"/>
                </a:solidFill>
                <a:latin typeface="Times New Roman" panose="02020603050405020304" pitchFamily="18" charset="0"/>
                <a:cs typeface="Times New Roman" panose="02020603050405020304" pitchFamily="18" charset="0"/>
              </a:rPr>
              <a:t> </a:t>
            </a:r>
            <a:r>
              <a:rPr lang="en-US" sz="6400" dirty="0">
                <a:solidFill>
                  <a:schemeClr val="tx1"/>
                </a:solidFill>
                <a:latin typeface="Times New Roman" panose="02020603050405020304" pitchFamily="18" charset="0"/>
                <a:cs typeface="Times New Roman" panose="02020603050405020304" pitchFamily="18" charset="0"/>
              </a:rPr>
              <a:t>Find how much amount is spent by each customer on artists? Write a query to return customer name, artist name and total spent </a:t>
            </a:r>
          </a:p>
          <a:p>
            <a:pPr marL="1143000" indent="-914400">
              <a:buFont typeface="+mj-lt"/>
              <a:buAutoNum type="arabicPeriod"/>
            </a:pPr>
            <a:r>
              <a:rPr lang="en-IN" sz="6400" dirty="0">
                <a:solidFill>
                  <a:schemeClr val="tx1"/>
                </a:solidFill>
                <a:latin typeface="Times New Roman" panose="02020603050405020304" pitchFamily="18" charset="0"/>
                <a:cs typeface="Times New Roman" panose="02020603050405020304" pitchFamily="18" charset="0"/>
              </a:rPr>
              <a:t>🇺🇳 </a:t>
            </a:r>
            <a:r>
              <a:rPr lang="en-US" sz="6400" dirty="0">
                <a:solidFill>
                  <a:schemeClr val="tx1"/>
                </a:solidFill>
                <a:latin typeface="Times New Roman" panose="02020603050405020304" pitchFamily="18" charset="0"/>
                <a:cs typeface="Times New Roman" panose="02020603050405020304" pitchFamily="18" charset="0"/>
              </a:rPr>
              <a:t>We want to find out the most popular music Genre for each country. We determine the most popular genre as the genre with the highest amount of purchases. Write a query that returns each country along with the top Genre. For countries where the maximum number of purchases is shared, return all Genres</a:t>
            </a:r>
          </a:p>
          <a:p>
            <a:pPr marL="1143000" indent="-914400">
              <a:buFont typeface="+mj-lt"/>
              <a:buAutoNum type="arabicPeriod"/>
            </a:pPr>
            <a:r>
              <a:rPr lang="en-IN" sz="6400" dirty="0">
                <a:solidFill>
                  <a:schemeClr val="tx1"/>
                </a:solidFill>
                <a:latin typeface="Times New Roman" panose="02020603050405020304" pitchFamily="18" charset="0"/>
                <a:cs typeface="Times New Roman" panose="02020603050405020304" pitchFamily="18" charset="0"/>
              </a:rPr>
              <a:t> </a:t>
            </a:r>
            <a:r>
              <a:rPr lang="en-US" sz="6400" dirty="0">
                <a:solidFill>
                  <a:schemeClr val="tx1"/>
                </a:solidFill>
                <a:latin typeface="Times New Roman" panose="02020603050405020304" pitchFamily="18" charset="0"/>
                <a:cs typeface="Times New Roman" panose="02020603050405020304" pitchFamily="18" charset="0"/>
              </a:rPr>
              <a:t>Write a query that determines the customer that has spent the most on music for each country. Write a query that returns the country along with the top customer and how much they spent. For countries where the top amount spent is shared, provide all customers who spent this amount</a:t>
            </a:r>
          </a:p>
          <a:p>
            <a:endParaRPr lang="en-IN" dirty="0"/>
          </a:p>
        </p:txBody>
      </p:sp>
    </p:spTree>
    <p:extLst>
      <p:ext uri="{BB962C8B-B14F-4D97-AF65-F5344CB8AC3E}">
        <p14:creationId xmlns:p14="http://schemas.microsoft.com/office/powerpoint/2010/main" val="440478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E2E5B-24E3-AFC1-B71C-3EDDF1E54E35}"/>
              </a:ext>
            </a:extLst>
          </p:cNvPr>
          <p:cNvSpPr>
            <a:spLocks noGrp="1"/>
          </p:cNvSpPr>
          <p:nvPr>
            <p:ph type="title"/>
          </p:nvPr>
        </p:nvSpPr>
        <p:spPr>
          <a:xfrm>
            <a:off x="475581" y="158750"/>
            <a:ext cx="10502899" cy="1030996"/>
          </a:xfrm>
        </p:spPr>
        <p:txBody>
          <a:bodyPr>
            <a:normAutofit fontScale="90000"/>
          </a:bodyPr>
          <a:lstStyle/>
          <a:p>
            <a:r>
              <a:rPr lang="en-US" sz="3100" b="1" dirty="0">
                <a:solidFill>
                  <a:srgbClr val="C00000"/>
                </a:solidFill>
                <a:latin typeface="Times New Roman" panose="02020603050405020304" pitchFamily="18" charset="0"/>
                <a:cs typeface="Times New Roman" panose="02020603050405020304" pitchFamily="18" charset="0"/>
              </a:rPr>
              <a:t>    SQL Query Results With Screenshots Or Summaries </a:t>
            </a:r>
            <a:br>
              <a:rPr lang="en-US" sz="3600" dirty="0">
                <a:solidFill>
                  <a:srgbClr val="C00000"/>
                </a:solidFill>
                <a:latin typeface="Times New Roman" panose="02020603050405020304" pitchFamily="18" charset="0"/>
                <a:cs typeface="Times New Roman" panose="02020603050405020304" pitchFamily="18" charset="0"/>
              </a:rPr>
            </a:br>
            <a:br>
              <a:rPr lang="en-US" sz="2400" dirty="0">
                <a:solidFill>
                  <a:schemeClr val="tx1"/>
                </a:solidFill>
                <a:latin typeface="Times New Roman" panose="02020603050405020304" pitchFamily="18" charset="0"/>
                <a:cs typeface="Times New Roman" panose="02020603050405020304" pitchFamily="18" charset="0"/>
              </a:rPr>
            </a:br>
            <a:r>
              <a:rPr lang="en-US" altLang="en-US" sz="2400" b="1" dirty="0">
                <a:solidFill>
                  <a:schemeClr val="tx1"/>
                </a:solidFill>
                <a:latin typeface="Times New Roman" panose="02020603050405020304" pitchFamily="18" charset="0"/>
                <a:cs typeface="Times New Roman" panose="02020603050405020304" pitchFamily="18" charset="0"/>
              </a:rPr>
              <a:t>🔹1. Who is the senior-most employee based on job title?</a:t>
            </a:r>
            <a:endParaRPr lang="en-IN" sz="2400" dirty="0"/>
          </a:p>
        </p:txBody>
      </p:sp>
      <p:sp>
        <p:nvSpPr>
          <p:cNvPr id="3" name="Text Placeholder 2">
            <a:extLst>
              <a:ext uri="{FF2B5EF4-FFF2-40B4-BE49-F238E27FC236}">
                <a16:creationId xmlns:a16="http://schemas.microsoft.com/office/drawing/2014/main" id="{26F80ECB-D5B2-BB4F-B44F-B12600C00B5C}"/>
              </a:ext>
            </a:extLst>
          </p:cNvPr>
          <p:cNvSpPr>
            <a:spLocks noGrp="1"/>
          </p:cNvSpPr>
          <p:nvPr>
            <p:ph type="body" idx="1"/>
          </p:nvPr>
        </p:nvSpPr>
        <p:spPr>
          <a:xfrm>
            <a:off x="844550" y="1307862"/>
            <a:ext cx="10502900" cy="5321300"/>
          </a:xfrm>
          <a:ln>
            <a:solidFill>
              <a:schemeClr val="bg1"/>
            </a:solidFill>
          </a:ln>
        </p:spPr>
        <p:txBody>
          <a:bodyPr/>
          <a:lstStyle/>
          <a:p>
            <a:r>
              <a:rPr lang="en-US" dirty="0">
                <a:solidFill>
                  <a:schemeClr val="accent2"/>
                </a:solidFill>
              </a:rPr>
              <a:t>Madan Mohan </a:t>
            </a:r>
            <a:r>
              <a:rPr lang="en-US" dirty="0">
                <a:solidFill>
                  <a:schemeClr val="tx1">
                    <a:lumMod val="65000"/>
                    <a:lumOff val="35000"/>
                  </a:schemeClr>
                </a:solidFill>
              </a:rPr>
              <a:t>is the senior most employee in this organization. He is </a:t>
            </a:r>
            <a:r>
              <a:rPr lang="en-US" dirty="0">
                <a:solidFill>
                  <a:schemeClr val="accent2"/>
                </a:solidFill>
              </a:rPr>
              <a:t>Senior</a:t>
            </a:r>
          </a:p>
          <a:p>
            <a:r>
              <a:rPr lang="en-US" dirty="0">
                <a:solidFill>
                  <a:schemeClr val="accent2"/>
                </a:solidFill>
              </a:rPr>
              <a:t>General Manager </a:t>
            </a:r>
            <a:r>
              <a:rPr lang="en-US" dirty="0">
                <a:solidFill>
                  <a:schemeClr val="tx1">
                    <a:lumMod val="65000"/>
                    <a:lumOff val="35000"/>
                  </a:schemeClr>
                </a:solidFill>
              </a:rPr>
              <a:t>of this organization.</a:t>
            </a:r>
          </a:p>
          <a:p>
            <a:endParaRPr lang="en-IN" dirty="0"/>
          </a:p>
        </p:txBody>
      </p:sp>
      <p:pic>
        <p:nvPicPr>
          <p:cNvPr id="4" name="Picture 3">
            <a:extLst>
              <a:ext uri="{FF2B5EF4-FFF2-40B4-BE49-F238E27FC236}">
                <a16:creationId xmlns:a16="http://schemas.microsoft.com/office/drawing/2014/main" id="{909143FF-D384-4167-39CA-0C18D0253957}"/>
              </a:ext>
            </a:extLst>
          </p:cNvPr>
          <p:cNvPicPr>
            <a:picLocks noChangeAspect="1"/>
          </p:cNvPicPr>
          <p:nvPr/>
        </p:nvPicPr>
        <p:blipFill>
          <a:blip r:embed="rId2"/>
          <a:stretch>
            <a:fillRect/>
          </a:stretch>
        </p:blipFill>
        <p:spPr>
          <a:xfrm>
            <a:off x="1231721" y="2268770"/>
            <a:ext cx="4600119" cy="1757523"/>
          </a:xfrm>
          <a:prstGeom prst="rect">
            <a:avLst/>
          </a:prstGeom>
        </p:spPr>
      </p:pic>
      <p:pic>
        <p:nvPicPr>
          <p:cNvPr id="5" name="Picture 4">
            <a:extLst>
              <a:ext uri="{FF2B5EF4-FFF2-40B4-BE49-F238E27FC236}">
                <a16:creationId xmlns:a16="http://schemas.microsoft.com/office/drawing/2014/main" id="{E0823D02-F52E-8553-2C1B-A62F4C5CBC96}"/>
              </a:ext>
            </a:extLst>
          </p:cNvPr>
          <p:cNvPicPr>
            <a:picLocks noChangeAspect="1"/>
          </p:cNvPicPr>
          <p:nvPr/>
        </p:nvPicPr>
        <p:blipFill>
          <a:blip r:embed="rId3"/>
          <a:stretch>
            <a:fillRect/>
          </a:stretch>
        </p:blipFill>
        <p:spPr>
          <a:xfrm>
            <a:off x="1231721" y="4565806"/>
            <a:ext cx="6372076" cy="984332"/>
          </a:xfrm>
          <a:prstGeom prst="rect">
            <a:avLst/>
          </a:prstGeom>
        </p:spPr>
      </p:pic>
    </p:spTree>
    <p:extLst>
      <p:ext uri="{BB962C8B-B14F-4D97-AF65-F5344CB8AC3E}">
        <p14:creationId xmlns:p14="http://schemas.microsoft.com/office/powerpoint/2010/main" val="11398618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570FE-EBDB-7682-7D01-5735AB6E0508}"/>
              </a:ext>
            </a:extLst>
          </p:cNvPr>
          <p:cNvSpPr>
            <a:spLocks noGrp="1"/>
          </p:cNvSpPr>
          <p:nvPr>
            <p:ph type="title"/>
          </p:nvPr>
        </p:nvSpPr>
        <p:spPr>
          <a:xfrm>
            <a:off x="831850" y="187789"/>
            <a:ext cx="10515600" cy="680286"/>
          </a:xfrm>
        </p:spPr>
        <p:txBody>
          <a:bodyPr>
            <a:normAutofit/>
          </a:bodyPr>
          <a:lstStyle/>
          <a:p>
            <a:r>
              <a:rPr lang="en-US" altLang="en-US" sz="2800" b="1" dirty="0">
                <a:solidFill>
                  <a:schemeClr val="tx1"/>
                </a:solidFill>
                <a:latin typeface="Times New Roman" panose="02020603050405020304" pitchFamily="18" charset="0"/>
                <a:cs typeface="Times New Roman" panose="02020603050405020304" pitchFamily="18" charset="0"/>
              </a:rPr>
              <a:t>🔹2. Which countries have the most invoices?</a:t>
            </a:r>
            <a:endParaRPr lang="en-IN" sz="2800" dirty="0"/>
          </a:p>
        </p:txBody>
      </p:sp>
      <p:sp>
        <p:nvSpPr>
          <p:cNvPr id="3" name="Text Placeholder 2">
            <a:extLst>
              <a:ext uri="{FF2B5EF4-FFF2-40B4-BE49-F238E27FC236}">
                <a16:creationId xmlns:a16="http://schemas.microsoft.com/office/drawing/2014/main" id="{FBF2059A-EC99-7FED-7BF0-3B3AA9D88AEC}"/>
              </a:ext>
            </a:extLst>
          </p:cNvPr>
          <p:cNvSpPr>
            <a:spLocks noGrp="1"/>
          </p:cNvSpPr>
          <p:nvPr>
            <p:ph type="body" idx="1"/>
          </p:nvPr>
        </p:nvSpPr>
        <p:spPr>
          <a:xfrm>
            <a:off x="831850" y="868075"/>
            <a:ext cx="10515600" cy="5221576"/>
          </a:xfrm>
          <a:ln>
            <a:solidFill>
              <a:schemeClr val="bg1"/>
            </a:solidFill>
          </a:ln>
        </p:spPr>
        <p:txBody>
          <a:bodyPr/>
          <a:lstStyle/>
          <a:p>
            <a:r>
              <a:rPr lang="en-US" dirty="0">
                <a:solidFill>
                  <a:schemeClr val="tx1">
                    <a:lumMod val="65000"/>
                    <a:lumOff val="35000"/>
                  </a:schemeClr>
                </a:solidFill>
              </a:rPr>
              <a:t>The </a:t>
            </a:r>
            <a:r>
              <a:rPr lang="en-US" dirty="0">
                <a:solidFill>
                  <a:schemeClr val="accent2"/>
                </a:solidFill>
              </a:rPr>
              <a:t>United States </a:t>
            </a:r>
            <a:r>
              <a:rPr lang="en-US" dirty="0">
                <a:solidFill>
                  <a:schemeClr val="tx1">
                    <a:lumMod val="65000"/>
                    <a:lumOff val="35000"/>
                  </a:schemeClr>
                </a:solidFill>
              </a:rPr>
              <a:t>has the highest number of invoices, showing the strongest</a:t>
            </a:r>
          </a:p>
          <a:p>
            <a:r>
              <a:rPr lang="en-US" dirty="0">
                <a:solidFill>
                  <a:schemeClr val="tx1">
                    <a:lumMod val="65000"/>
                    <a:lumOff val="35000"/>
                  </a:schemeClr>
                </a:solidFill>
              </a:rPr>
              <a:t>customer engagement.</a:t>
            </a:r>
            <a:endParaRPr lang="en-US" b="1" dirty="0">
              <a:solidFill>
                <a:schemeClr val="tx1">
                  <a:lumMod val="65000"/>
                  <a:lumOff val="35000"/>
                </a:schemeClr>
              </a:solidFill>
            </a:endParaRPr>
          </a:p>
          <a:p>
            <a:endParaRPr lang="en-IN" dirty="0"/>
          </a:p>
        </p:txBody>
      </p:sp>
      <p:pic>
        <p:nvPicPr>
          <p:cNvPr id="5" name="Picture 4">
            <a:extLst>
              <a:ext uri="{FF2B5EF4-FFF2-40B4-BE49-F238E27FC236}">
                <a16:creationId xmlns:a16="http://schemas.microsoft.com/office/drawing/2014/main" id="{82FB42B1-BC46-6198-6CA8-E9EE5B19134A}"/>
              </a:ext>
            </a:extLst>
          </p:cNvPr>
          <p:cNvPicPr>
            <a:picLocks noChangeAspect="1"/>
          </p:cNvPicPr>
          <p:nvPr/>
        </p:nvPicPr>
        <p:blipFill>
          <a:blip r:embed="rId2"/>
          <a:stretch>
            <a:fillRect/>
          </a:stretch>
        </p:blipFill>
        <p:spPr>
          <a:xfrm>
            <a:off x="1209040" y="1838632"/>
            <a:ext cx="8977180" cy="2795956"/>
          </a:xfrm>
          <a:prstGeom prst="rect">
            <a:avLst/>
          </a:prstGeom>
        </p:spPr>
      </p:pic>
      <p:pic>
        <p:nvPicPr>
          <p:cNvPr id="7" name="Picture 6">
            <a:extLst>
              <a:ext uri="{FF2B5EF4-FFF2-40B4-BE49-F238E27FC236}">
                <a16:creationId xmlns:a16="http://schemas.microsoft.com/office/drawing/2014/main" id="{32CAD3A3-1DD1-50DC-5E8C-C5893D16F805}"/>
              </a:ext>
            </a:extLst>
          </p:cNvPr>
          <p:cNvPicPr>
            <a:picLocks noChangeAspect="1"/>
          </p:cNvPicPr>
          <p:nvPr/>
        </p:nvPicPr>
        <p:blipFill>
          <a:blip r:embed="rId3"/>
          <a:stretch>
            <a:fillRect/>
          </a:stretch>
        </p:blipFill>
        <p:spPr>
          <a:xfrm>
            <a:off x="7244080" y="2923379"/>
            <a:ext cx="3738880" cy="2795955"/>
          </a:xfrm>
          <a:prstGeom prst="rect">
            <a:avLst/>
          </a:prstGeom>
        </p:spPr>
      </p:pic>
    </p:spTree>
    <p:extLst>
      <p:ext uri="{BB962C8B-B14F-4D97-AF65-F5344CB8AC3E}">
        <p14:creationId xmlns:p14="http://schemas.microsoft.com/office/powerpoint/2010/main" val="2536540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6A093-3A2E-833B-2CD6-2307C6CB2791}"/>
              </a:ext>
            </a:extLst>
          </p:cNvPr>
          <p:cNvSpPr>
            <a:spLocks noGrp="1"/>
          </p:cNvSpPr>
          <p:nvPr>
            <p:ph type="title"/>
          </p:nvPr>
        </p:nvSpPr>
        <p:spPr>
          <a:xfrm>
            <a:off x="740772" y="151843"/>
            <a:ext cx="10852484" cy="554874"/>
          </a:xfrm>
        </p:spPr>
        <p:txBody>
          <a:bodyPr>
            <a:normAutofit/>
          </a:bodyPr>
          <a:lstStyle/>
          <a:p>
            <a:r>
              <a:rPr lang="en-US" altLang="en-US" sz="2800" b="1" dirty="0">
                <a:solidFill>
                  <a:schemeClr val="tx1"/>
                </a:solidFill>
                <a:latin typeface="Times New Roman" panose="02020603050405020304" pitchFamily="18" charset="0"/>
                <a:cs typeface="Times New Roman" panose="02020603050405020304" pitchFamily="18" charset="0"/>
              </a:rPr>
              <a:t>🔹3. What are the top 3 highest invoice totals?</a:t>
            </a:r>
            <a:endParaRPr lang="en-IN" sz="2800" dirty="0"/>
          </a:p>
        </p:txBody>
      </p:sp>
      <p:sp>
        <p:nvSpPr>
          <p:cNvPr id="3" name="Text Placeholder 2">
            <a:extLst>
              <a:ext uri="{FF2B5EF4-FFF2-40B4-BE49-F238E27FC236}">
                <a16:creationId xmlns:a16="http://schemas.microsoft.com/office/drawing/2014/main" id="{D7C40EAF-2EDF-DFE2-4C0B-E4118D0AB3F9}"/>
              </a:ext>
            </a:extLst>
          </p:cNvPr>
          <p:cNvSpPr>
            <a:spLocks noGrp="1"/>
          </p:cNvSpPr>
          <p:nvPr>
            <p:ph type="body" idx="1"/>
          </p:nvPr>
        </p:nvSpPr>
        <p:spPr>
          <a:xfrm>
            <a:off x="740772" y="895452"/>
            <a:ext cx="10852484" cy="5067095"/>
          </a:xfrm>
          <a:ln>
            <a:solidFill>
              <a:schemeClr val="bg1"/>
            </a:solidFill>
          </a:ln>
        </p:spPr>
        <p:txBody>
          <a:bodyPr/>
          <a:lstStyle/>
          <a:p>
            <a:r>
              <a:rPr lang="en-US" dirty="0">
                <a:solidFill>
                  <a:schemeClr val="tx1">
                    <a:lumMod val="65000"/>
                    <a:lumOff val="35000"/>
                  </a:schemeClr>
                </a:solidFill>
              </a:rPr>
              <a:t>The highest invoice total is </a:t>
            </a:r>
            <a:r>
              <a:rPr lang="en-US" dirty="0">
                <a:solidFill>
                  <a:schemeClr val="accent2"/>
                </a:solidFill>
              </a:rPr>
              <a:t>$23.76</a:t>
            </a:r>
            <a:r>
              <a:rPr lang="en-US" dirty="0">
                <a:solidFill>
                  <a:schemeClr val="tx1">
                    <a:lumMod val="65000"/>
                    <a:lumOff val="35000"/>
                  </a:schemeClr>
                </a:solidFill>
              </a:rPr>
              <a:t>, followed by two invoices each worth </a:t>
            </a:r>
            <a:r>
              <a:rPr lang="en-US" dirty="0">
                <a:solidFill>
                  <a:schemeClr val="accent2"/>
                </a:solidFill>
              </a:rPr>
              <a:t>$19.80.</a:t>
            </a:r>
            <a:endParaRPr lang="en-US" b="1" dirty="0">
              <a:solidFill>
                <a:schemeClr val="accent2"/>
              </a:solidFill>
            </a:endParaRPr>
          </a:p>
          <a:p>
            <a:endParaRPr lang="en-IN" dirty="0"/>
          </a:p>
        </p:txBody>
      </p:sp>
      <p:pic>
        <p:nvPicPr>
          <p:cNvPr id="4" name="Picture 3">
            <a:extLst>
              <a:ext uri="{FF2B5EF4-FFF2-40B4-BE49-F238E27FC236}">
                <a16:creationId xmlns:a16="http://schemas.microsoft.com/office/drawing/2014/main" id="{503EBC92-30AD-194B-5C9C-46B2229F6804}"/>
              </a:ext>
            </a:extLst>
          </p:cNvPr>
          <p:cNvPicPr>
            <a:picLocks noChangeAspect="1"/>
          </p:cNvPicPr>
          <p:nvPr/>
        </p:nvPicPr>
        <p:blipFill>
          <a:blip r:embed="rId2"/>
          <a:stretch>
            <a:fillRect/>
          </a:stretch>
        </p:blipFill>
        <p:spPr>
          <a:xfrm>
            <a:off x="1100189" y="1827796"/>
            <a:ext cx="5801535" cy="2140526"/>
          </a:xfrm>
          <a:prstGeom prst="rect">
            <a:avLst/>
          </a:prstGeom>
        </p:spPr>
      </p:pic>
      <p:pic>
        <p:nvPicPr>
          <p:cNvPr id="5" name="Picture 4">
            <a:extLst>
              <a:ext uri="{FF2B5EF4-FFF2-40B4-BE49-F238E27FC236}">
                <a16:creationId xmlns:a16="http://schemas.microsoft.com/office/drawing/2014/main" id="{709D39FE-F51C-3F0C-6905-A29039B58CA2}"/>
              </a:ext>
            </a:extLst>
          </p:cNvPr>
          <p:cNvPicPr>
            <a:picLocks noChangeAspect="1"/>
          </p:cNvPicPr>
          <p:nvPr/>
        </p:nvPicPr>
        <p:blipFill>
          <a:blip r:embed="rId3"/>
          <a:stretch>
            <a:fillRect/>
          </a:stretch>
        </p:blipFill>
        <p:spPr>
          <a:xfrm>
            <a:off x="7943366" y="2044573"/>
            <a:ext cx="3148445" cy="4154905"/>
          </a:xfrm>
          <a:prstGeom prst="rect">
            <a:avLst/>
          </a:prstGeom>
        </p:spPr>
      </p:pic>
    </p:spTree>
    <p:extLst>
      <p:ext uri="{BB962C8B-B14F-4D97-AF65-F5344CB8AC3E}">
        <p14:creationId xmlns:p14="http://schemas.microsoft.com/office/powerpoint/2010/main" val="39070448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7A8A2-C9CA-4305-BA62-D552F2373068}"/>
              </a:ext>
            </a:extLst>
          </p:cNvPr>
          <p:cNvSpPr>
            <a:spLocks noGrp="1"/>
          </p:cNvSpPr>
          <p:nvPr>
            <p:ph type="title"/>
          </p:nvPr>
        </p:nvSpPr>
        <p:spPr>
          <a:xfrm>
            <a:off x="446839" y="155367"/>
            <a:ext cx="11295981" cy="612983"/>
          </a:xfrm>
        </p:spPr>
        <p:txBody>
          <a:bodyPr>
            <a:normAutofit/>
          </a:bodyPr>
          <a:lstStyle/>
          <a:p>
            <a:r>
              <a:rPr lang="en-US" altLang="en-US" sz="2800" b="1" dirty="0">
                <a:solidFill>
                  <a:schemeClr val="tx1"/>
                </a:solidFill>
                <a:latin typeface="Times New Roman" panose="02020603050405020304" pitchFamily="18" charset="0"/>
                <a:cs typeface="Times New Roman" panose="02020603050405020304" pitchFamily="18" charset="0"/>
              </a:rPr>
              <a:t>🔹4. Which city has the best customers (based on total invoice amount)?</a:t>
            </a:r>
            <a:endParaRPr lang="en-IN" sz="2800" dirty="0"/>
          </a:p>
        </p:txBody>
      </p:sp>
      <p:sp>
        <p:nvSpPr>
          <p:cNvPr id="3" name="Text Placeholder 2">
            <a:extLst>
              <a:ext uri="{FF2B5EF4-FFF2-40B4-BE49-F238E27FC236}">
                <a16:creationId xmlns:a16="http://schemas.microsoft.com/office/drawing/2014/main" id="{4A8D9D8A-ED0B-0338-ED98-78D34110144C}"/>
              </a:ext>
            </a:extLst>
          </p:cNvPr>
          <p:cNvSpPr>
            <a:spLocks noGrp="1"/>
          </p:cNvSpPr>
          <p:nvPr>
            <p:ph type="body" idx="1"/>
          </p:nvPr>
        </p:nvSpPr>
        <p:spPr>
          <a:xfrm>
            <a:off x="700839" y="810629"/>
            <a:ext cx="11295981" cy="5837394"/>
          </a:xfrm>
          <a:ln>
            <a:solidFill>
              <a:schemeClr val="bg1"/>
            </a:solidFill>
          </a:ln>
        </p:spPr>
        <p:txBody>
          <a:bodyPr/>
          <a:lstStyle/>
          <a:p>
            <a:r>
              <a:rPr lang="en-US" dirty="0">
                <a:solidFill>
                  <a:schemeClr val="accent2"/>
                </a:solidFill>
              </a:rPr>
              <a:t>Prague </a:t>
            </a:r>
            <a:r>
              <a:rPr lang="en-US" dirty="0">
                <a:solidFill>
                  <a:schemeClr val="tx1">
                    <a:lumMod val="65000"/>
                    <a:lumOff val="35000"/>
                  </a:schemeClr>
                </a:solidFill>
              </a:rPr>
              <a:t>is the top-performing city in terms of revenue – making it the best location for a</a:t>
            </a:r>
          </a:p>
          <a:p>
            <a:r>
              <a:rPr lang="en-US" dirty="0">
                <a:solidFill>
                  <a:schemeClr val="tx1">
                    <a:lumMod val="65000"/>
                    <a:lumOff val="35000"/>
                  </a:schemeClr>
                </a:solidFill>
              </a:rPr>
              <a:t>promotional event.</a:t>
            </a:r>
            <a:endParaRPr lang="en-US" b="1" dirty="0">
              <a:solidFill>
                <a:schemeClr val="tx1">
                  <a:lumMod val="65000"/>
                  <a:lumOff val="35000"/>
                </a:schemeClr>
              </a:solidFill>
            </a:endParaRPr>
          </a:p>
          <a:p>
            <a:endParaRPr lang="en-IN" dirty="0"/>
          </a:p>
        </p:txBody>
      </p:sp>
      <p:pic>
        <p:nvPicPr>
          <p:cNvPr id="4" name="Picture 3">
            <a:extLst>
              <a:ext uri="{FF2B5EF4-FFF2-40B4-BE49-F238E27FC236}">
                <a16:creationId xmlns:a16="http://schemas.microsoft.com/office/drawing/2014/main" id="{C5076F85-1A67-DB3A-F111-0121450459EF}"/>
              </a:ext>
            </a:extLst>
          </p:cNvPr>
          <p:cNvPicPr>
            <a:picLocks noChangeAspect="1"/>
          </p:cNvPicPr>
          <p:nvPr/>
        </p:nvPicPr>
        <p:blipFill>
          <a:blip r:embed="rId2"/>
          <a:stretch>
            <a:fillRect/>
          </a:stretch>
        </p:blipFill>
        <p:spPr>
          <a:xfrm>
            <a:off x="995680" y="1815371"/>
            <a:ext cx="10747140" cy="2224287"/>
          </a:xfrm>
          <a:prstGeom prst="rect">
            <a:avLst/>
          </a:prstGeom>
        </p:spPr>
      </p:pic>
      <p:pic>
        <p:nvPicPr>
          <p:cNvPr id="5" name="Picture 4">
            <a:extLst>
              <a:ext uri="{FF2B5EF4-FFF2-40B4-BE49-F238E27FC236}">
                <a16:creationId xmlns:a16="http://schemas.microsoft.com/office/drawing/2014/main" id="{3935C656-7900-85C6-2591-06FD778F55D6}"/>
              </a:ext>
            </a:extLst>
          </p:cNvPr>
          <p:cNvPicPr>
            <a:picLocks noChangeAspect="1"/>
          </p:cNvPicPr>
          <p:nvPr/>
        </p:nvPicPr>
        <p:blipFill>
          <a:blip r:embed="rId3"/>
          <a:stretch>
            <a:fillRect/>
          </a:stretch>
        </p:blipFill>
        <p:spPr>
          <a:xfrm>
            <a:off x="2854960" y="4517914"/>
            <a:ext cx="4846320" cy="1529457"/>
          </a:xfrm>
          <a:prstGeom prst="rect">
            <a:avLst/>
          </a:prstGeom>
          <a:effectLst>
            <a:reflection blurRad="6350" stA="52000" endA="300" endPos="35000" dir="5400000" sy="-100000" algn="bl" rotWithShape="0"/>
          </a:effectLst>
        </p:spPr>
      </p:pic>
    </p:spTree>
    <p:extLst>
      <p:ext uri="{BB962C8B-B14F-4D97-AF65-F5344CB8AC3E}">
        <p14:creationId xmlns:p14="http://schemas.microsoft.com/office/powerpoint/2010/main" val="33710715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EED51-3A50-473A-775D-09DBD471412A}"/>
              </a:ext>
            </a:extLst>
          </p:cNvPr>
          <p:cNvSpPr>
            <a:spLocks noGrp="1"/>
          </p:cNvSpPr>
          <p:nvPr>
            <p:ph type="title"/>
          </p:nvPr>
        </p:nvSpPr>
        <p:spPr>
          <a:xfrm>
            <a:off x="831850" y="203401"/>
            <a:ext cx="10721808" cy="606201"/>
          </a:xfrm>
        </p:spPr>
        <p:txBody>
          <a:bodyPr>
            <a:normAutofit/>
          </a:bodyPr>
          <a:lstStyle/>
          <a:p>
            <a:r>
              <a:rPr lang="en-US" altLang="en-US" sz="2800" b="1" dirty="0">
                <a:solidFill>
                  <a:schemeClr val="tx1"/>
                </a:solidFill>
                <a:latin typeface="Times New Roman" panose="02020603050405020304" pitchFamily="18" charset="0"/>
                <a:cs typeface="Times New Roman" panose="02020603050405020304" pitchFamily="18" charset="0"/>
              </a:rPr>
              <a:t>🔹5. Who is the best customer (spent the most)?</a:t>
            </a:r>
            <a:endParaRPr lang="en-IN" sz="2800" dirty="0"/>
          </a:p>
        </p:txBody>
      </p:sp>
      <p:sp>
        <p:nvSpPr>
          <p:cNvPr id="3" name="Text Placeholder 2">
            <a:extLst>
              <a:ext uri="{FF2B5EF4-FFF2-40B4-BE49-F238E27FC236}">
                <a16:creationId xmlns:a16="http://schemas.microsoft.com/office/drawing/2014/main" id="{C303CFC3-9B22-3AA8-198F-40CA45693A5B}"/>
              </a:ext>
            </a:extLst>
          </p:cNvPr>
          <p:cNvSpPr>
            <a:spLocks noGrp="1"/>
          </p:cNvSpPr>
          <p:nvPr>
            <p:ph type="body" idx="1"/>
          </p:nvPr>
        </p:nvSpPr>
        <p:spPr>
          <a:xfrm>
            <a:off x="944880" y="809602"/>
            <a:ext cx="10608776" cy="5325727"/>
          </a:xfrm>
          <a:ln>
            <a:solidFill>
              <a:schemeClr val="bg1"/>
            </a:solidFill>
          </a:ln>
        </p:spPr>
        <p:txBody>
          <a:bodyPr/>
          <a:lstStyle/>
          <a:p>
            <a:r>
              <a:rPr lang="en-IN" dirty="0">
                <a:solidFill>
                  <a:schemeClr val="accent2"/>
                </a:solidFill>
              </a:rPr>
              <a:t>František </a:t>
            </a:r>
            <a:r>
              <a:rPr lang="en-US" dirty="0">
                <a:solidFill>
                  <a:schemeClr val="accent2"/>
                </a:solidFill>
              </a:rPr>
              <a:t> </a:t>
            </a:r>
            <a:r>
              <a:rPr lang="en-IN" dirty="0" err="1">
                <a:solidFill>
                  <a:schemeClr val="accent2"/>
                </a:solidFill>
              </a:rPr>
              <a:t>Wichterlová</a:t>
            </a:r>
            <a:r>
              <a:rPr lang="en-IN" dirty="0">
                <a:solidFill>
                  <a:schemeClr val="accent2"/>
                </a:solidFill>
              </a:rPr>
              <a:t> </a:t>
            </a:r>
            <a:r>
              <a:rPr lang="en-US" dirty="0">
                <a:solidFill>
                  <a:schemeClr val="accent2"/>
                </a:solidFill>
              </a:rPr>
              <a:t> </a:t>
            </a:r>
            <a:r>
              <a:rPr lang="en-IN" dirty="0">
                <a:solidFill>
                  <a:schemeClr val="tx1">
                    <a:lumMod val="65000"/>
                    <a:lumOff val="35000"/>
                  </a:schemeClr>
                </a:solidFill>
              </a:rPr>
              <a:t>is the best customer, </a:t>
            </a:r>
            <a:r>
              <a:rPr lang="en-US" dirty="0">
                <a:solidFill>
                  <a:schemeClr val="tx1">
                    <a:lumMod val="65000"/>
                    <a:lumOff val="35000"/>
                  </a:schemeClr>
                </a:solidFill>
              </a:rPr>
              <a:t>having spent </a:t>
            </a:r>
            <a:r>
              <a:rPr lang="en-US" dirty="0">
                <a:solidFill>
                  <a:schemeClr val="accent2"/>
                </a:solidFill>
              </a:rPr>
              <a:t>$144.54 </a:t>
            </a:r>
            <a:r>
              <a:rPr lang="en-US" dirty="0">
                <a:solidFill>
                  <a:schemeClr val="tx1">
                    <a:lumMod val="65000"/>
                    <a:lumOff val="35000"/>
                  </a:schemeClr>
                </a:solidFill>
              </a:rPr>
              <a:t>in total.</a:t>
            </a:r>
            <a:endParaRPr lang="en-US" b="1" dirty="0">
              <a:solidFill>
                <a:schemeClr val="tx1">
                  <a:lumMod val="65000"/>
                  <a:lumOff val="35000"/>
                </a:schemeClr>
              </a:solidFill>
            </a:endParaRPr>
          </a:p>
          <a:p>
            <a:endParaRPr lang="en-IN" dirty="0"/>
          </a:p>
        </p:txBody>
      </p:sp>
      <p:pic>
        <p:nvPicPr>
          <p:cNvPr id="4" name="Picture 3">
            <a:extLst>
              <a:ext uri="{FF2B5EF4-FFF2-40B4-BE49-F238E27FC236}">
                <a16:creationId xmlns:a16="http://schemas.microsoft.com/office/drawing/2014/main" id="{F216BF02-6D29-A0EA-080C-F18E972698DC}"/>
              </a:ext>
            </a:extLst>
          </p:cNvPr>
          <p:cNvPicPr>
            <a:picLocks noChangeAspect="1"/>
          </p:cNvPicPr>
          <p:nvPr/>
        </p:nvPicPr>
        <p:blipFill>
          <a:blip r:embed="rId2"/>
          <a:stretch>
            <a:fillRect/>
          </a:stretch>
        </p:blipFill>
        <p:spPr>
          <a:xfrm>
            <a:off x="1098550" y="1253243"/>
            <a:ext cx="9504795" cy="2947401"/>
          </a:xfrm>
          <a:prstGeom prst="rect">
            <a:avLst/>
          </a:prstGeom>
        </p:spPr>
      </p:pic>
      <p:pic>
        <p:nvPicPr>
          <p:cNvPr id="7" name="Picture 6">
            <a:extLst>
              <a:ext uri="{FF2B5EF4-FFF2-40B4-BE49-F238E27FC236}">
                <a16:creationId xmlns:a16="http://schemas.microsoft.com/office/drawing/2014/main" id="{1E89F417-60CF-F60D-E2A2-AE9507B9E4B4}"/>
              </a:ext>
            </a:extLst>
          </p:cNvPr>
          <p:cNvPicPr>
            <a:picLocks noChangeAspect="1"/>
          </p:cNvPicPr>
          <p:nvPr/>
        </p:nvPicPr>
        <p:blipFill>
          <a:blip r:embed="rId3"/>
          <a:stretch>
            <a:fillRect/>
          </a:stretch>
        </p:blipFill>
        <p:spPr>
          <a:xfrm>
            <a:off x="2627229" y="3992880"/>
            <a:ext cx="7131050" cy="2289198"/>
          </a:xfrm>
          <a:prstGeom prst="rect">
            <a:avLst/>
          </a:prstGeom>
        </p:spPr>
      </p:pic>
    </p:spTree>
    <p:extLst>
      <p:ext uri="{BB962C8B-B14F-4D97-AF65-F5344CB8AC3E}">
        <p14:creationId xmlns:p14="http://schemas.microsoft.com/office/powerpoint/2010/main" val="5679651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5C998-AA81-5F51-2046-3E1DEBFF89A9}"/>
              </a:ext>
            </a:extLst>
          </p:cNvPr>
          <p:cNvSpPr>
            <a:spLocks noGrp="1"/>
          </p:cNvSpPr>
          <p:nvPr>
            <p:ph type="title"/>
          </p:nvPr>
        </p:nvSpPr>
        <p:spPr>
          <a:xfrm>
            <a:off x="831850" y="228719"/>
            <a:ext cx="10515600" cy="468604"/>
          </a:xfrm>
        </p:spPr>
        <p:txBody>
          <a:bodyPr>
            <a:normAutofit fontScale="90000"/>
          </a:bodyPr>
          <a:lstStyle/>
          <a:p>
            <a:r>
              <a:rPr lang="en-US" altLang="en-US" sz="2800" b="1" dirty="0">
                <a:solidFill>
                  <a:schemeClr val="tx1"/>
                </a:solidFill>
                <a:latin typeface="Times New Roman" panose="02020603050405020304" pitchFamily="18" charset="0"/>
                <a:cs typeface="Times New Roman" panose="02020603050405020304" pitchFamily="18" charset="0"/>
              </a:rPr>
              <a:t>🔹6. All Rock Music listeners (with email, </a:t>
            </a:r>
            <a:r>
              <a:rPr lang="en-US" altLang="en-US" sz="2800" b="1" dirty="0" err="1">
                <a:solidFill>
                  <a:schemeClr val="tx1"/>
                </a:solidFill>
                <a:latin typeface="Times New Roman" panose="02020603050405020304" pitchFamily="18" charset="0"/>
                <a:cs typeface="Times New Roman" panose="02020603050405020304" pitchFamily="18" charset="0"/>
              </a:rPr>
              <a:t>Firstname</a:t>
            </a:r>
            <a:r>
              <a:rPr lang="en-US" altLang="en-US" sz="2800" b="1" dirty="0">
                <a:solidFill>
                  <a:schemeClr val="tx1"/>
                </a:solidFill>
                <a:latin typeface="Times New Roman" panose="02020603050405020304" pitchFamily="18" charset="0"/>
                <a:cs typeface="Times New Roman" panose="02020603050405020304" pitchFamily="18" charset="0"/>
              </a:rPr>
              <a:t>, Lastname)</a:t>
            </a:r>
            <a:endParaRPr lang="en-IN" sz="2800" dirty="0"/>
          </a:p>
        </p:txBody>
      </p:sp>
      <p:sp>
        <p:nvSpPr>
          <p:cNvPr id="3" name="Text Placeholder 2">
            <a:extLst>
              <a:ext uri="{FF2B5EF4-FFF2-40B4-BE49-F238E27FC236}">
                <a16:creationId xmlns:a16="http://schemas.microsoft.com/office/drawing/2014/main" id="{5F2B9047-F0FD-1583-EDEF-4D6A5A3F7B33}"/>
              </a:ext>
            </a:extLst>
          </p:cNvPr>
          <p:cNvSpPr>
            <a:spLocks noGrp="1"/>
          </p:cNvSpPr>
          <p:nvPr>
            <p:ph type="body" idx="1"/>
          </p:nvPr>
        </p:nvSpPr>
        <p:spPr>
          <a:xfrm>
            <a:off x="831850" y="825909"/>
            <a:ext cx="10515600" cy="5263741"/>
          </a:xfrm>
          <a:ln>
            <a:solidFill>
              <a:schemeClr val="bg1"/>
            </a:solidFill>
          </a:ln>
        </p:spPr>
        <p:txBody>
          <a:bodyPr/>
          <a:lstStyle/>
          <a:p>
            <a:r>
              <a:rPr lang="en-US" dirty="0">
                <a:solidFill>
                  <a:schemeClr val="tx1">
                    <a:lumMod val="65000"/>
                    <a:lumOff val="35000"/>
                  </a:schemeClr>
                </a:solidFill>
              </a:rPr>
              <a:t>The query filters and identifies all unique customers</a:t>
            </a:r>
            <a:r>
              <a:rPr lang="en-IN" dirty="0">
                <a:solidFill>
                  <a:schemeClr val="tx1">
                    <a:lumMod val="65000"/>
                    <a:lumOff val="35000"/>
                  </a:schemeClr>
                </a:solidFill>
              </a:rPr>
              <a:t> </a:t>
            </a:r>
            <a:r>
              <a:rPr lang="en-US" dirty="0">
                <a:solidFill>
                  <a:schemeClr val="tx1">
                    <a:lumMod val="65000"/>
                    <a:lumOff val="35000"/>
                  </a:schemeClr>
                </a:solidFill>
              </a:rPr>
              <a:t>who have purchased Rock</a:t>
            </a:r>
          </a:p>
          <a:p>
            <a:r>
              <a:rPr lang="en-US" dirty="0">
                <a:solidFill>
                  <a:schemeClr val="tx1">
                    <a:lumMod val="65000"/>
                    <a:lumOff val="35000"/>
                  </a:schemeClr>
                </a:solidFill>
              </a:rPr>
              <a:t>tracks, and organizes them by email.</a:t>
            </a:r>
            <a:endParaRPr lang="en-US" b="1" dirty="0">
              <a:solidFill>
                <a:schemeClr val="tx1">
                  <a:lumMod val="65000"/>
                  <a:lumOff val="35000"/>
                </a:schemeClr>
              </a:solidFill>
            </a:endParaRPr>
          </a:p>
          <a:p>
            <a:endParaRPr lang="en-IN" dirty="0"/>
          </a:p>
        </p:txBody>
      </p:sp>
      <p:pic>
        <p:nvPicPr>
          <p:cNvPr id="5" name="Picture 4">
            <a:extLst>
              <a:ext uri="{FF2B5EF4-FFF2-40B4-BE49-F238E27FC236}">
                <a16:creationId xmlns:a16="http://schemas.microsoft.com/office/drawing/2014/main" id="{3BCA396D-3890-31A4-9945-5B3F1FA5BDE0}"/>
              </a:ext>
            </a:extLst>
          </p:cNvPr>
          <p:cNvPicPr>
            <a:picLocks noChangeAspect="1"/>
          </p:cNvPicPr>
          <p:nvPr/>
        </p:nvPicPr>
        <p:blipFill>
          <a:blip r:embed="rId2"/>
          <a:stretch>
            <a:fillRect/>
          </a:stretch>
        </p:blipFill>
        <p:spPr>
          <a:xfrm>
            <a:off x="1129030" y="1849442"/>
            <a:ext cx="9313142" cy="3377335"/>
          </a:xfrm>
          <a:prstGeom prst="rect">
            <a:avLst/>
          </a:prstGeom>
          <a:ln>
            <a:solidFill>
              <a:schemeClr val="bg1"/>
            </a:solidFill>
          </a:ln>
        </p:spPr>
      </p:pic>
      <p:pic>
        <p:nvPicPr>
          <p:cNvPr id="6" name="Picture 5">
            <a:extLst>
              <a:ext uri="{FF2B5EF4-FFF2-40B4-BE49-F238E27FC236}">
                <a16:creationId xmlns:a16="http://schemas.microsoft.com/office/drawing/2014/main" id="{496528D0-6D31-60FA-7786-4F5EE9CA372E}"/>
              </a:ext>
            </a:extLst>
          </p:cNvPr>
          <p:cNvPicPr>
            <a:picLocks noChangeAspect="1"/>
          </p:cNvPicPr>
          <p:nvPr/>
        </p:nvPicPr>
        <p:blipFill>
          <a:blip r:embed="rId3"/>
          <a:stretch>
            <a:fillRect/>
          </a:stretch>
        </p:blipFill>
        <p:spPr>
          <a:xfrm>
            <a:off x="7808465" y="3538110"/>
            <a:ext cx="4383535" cy="2622567"/>
          </a:xfrm>
          <a:prstGeom prst="rect">
            <a:avLst/>
          </a:prstGeom>
        </p:spPr>
      </p:pic>
    </p:spTree>
    <p:extLst>
      <p:ext uri="{BB962C8B-B14F-4D97-AF65-F5344CB8AC3E}">
        <p14:creationId xmlns:p14="http://schemas.microsoft.com/office/powerpoint/2010/main" val="17429403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25371-E7D2-3631-9EDD-EC39FF3172B7}"/>
              </a:ext>
            </a:extLst>
          </p:cNvPr>
          <p:cNvSpPr>
            <a:spLocks noGrp="1"/>
          </p:cNvSpPr>
          <p:nvPr>
            <p:ph type="title"/>
          </p:nvPr>
        </p:nvSpPr>
        <p:spPr>
          <a:xfrm>
            <a:off x="831850" y="155285"/>
            <a:ext cx="10515600" cy="460037"/>
          </a:xfrm>
        </p:spPr>
        <p:txBody>
          <a:bodyPr>
            <a:normAutofit fontScale="90000"/>
          </a:bodyPr>
          <a:lstStyle/>
          <a:p>
            <a:r>
              <a:rPr lang="en-US" altLang="en-US" sz="2800" b="1" dirty="0">
                <a:solidFill>
                  <a:schemeClr val="tx1"/>
                </a:solidFill>
                <a:latin typeface="Times New Roman" panose="02020603050405020304" pitchFamily="18" charset="0"/>
                <a:cs typeface="Times New Roman" panose="02020603050405020304" pitchFamily="18" charset="0"/>
              </a:rPr>
              <a:t>🔹7. Top 10 Rock Artists (based on song count)</a:t>
            </a:r>
            <a:endParaRPr lang="en-IN" sz="2800" dirty="0"/>
          </a:p>
        </p:txBody>
      </p:sp>
      <p:sp>
        <p:nvSpPr>
          <p:cNvPr id="3" name="Text Placeholder 2">
            <a:extLst>
              <a:ext uri="{FF2B5EF4-FFF2-40B4-BE49-F238E27FC236}">
                <a16:creationId xmlns:a16="http://schemas.microsoft.com/office/drawing/2014/main" id="{337CB0FB-464D-6802-6868-5F179CBB2A67}"/>
              </a:ext>
            </a:extLst>
          </p:cNvPr>
          <p:cNvSpPr>
            <a:spLocks noGrp="1"/>
          </p:cNvSpPr>
          <p:nvPr>
            <p:ph type="body" idx="1"/>
          </p:nvPr>
        </p:nvSpPr>
        <p:spPr>
          <a:xfrm>
            <a:off x="831850" y="623111"/>
            <a:ext cx="10515600" cy="5619567"/>
          </a:xfrm>
          <a:ln>
            <a:solidFill>
              <a:srgbClr val="FFFFFF"/>
            </a:solidFill>
          </a:ln>
        </p:spPr>
        <p:txBody>
          <a:bodyPr/>
          <a:lstStyle/>
          <a:p>
            <a:r>
              <a:rPr lang="en-US" dirty="0">
                <a:solidFill>
                  <a:schemeClr val="tx1">
                    <a:lumMod val="65000"/>
                    <a:lumOff val="35000"/>
                  </a:schemeClr>
                </a:solidFill>
              </a:rPr>
              <a:t>These are the most prolific Rock artists in the dataset —ideal candidates for a</a:t>
            </a:r>
          </a:p>
          <a:p>
            <a:r>
              <a:rPr lang="en-US" dirty="0">
                <a:solidFill>
                  <a:schemeClr val="tx1">
                    <a:lumMod val="65000"/>
                    <a:lumOff val="35000"/>
                  </a:schemeClr>
                </a:solidFill>
              </a:rPr>
              <a:t>promotional campaign or rock music festival.</a:t>
            </a:r>
            <a:endParaRPr lang="en-US" b="1" dirty="0">
              <a:solidFill>
                <a:schemeClr val="tx1">
                  <a:lumMod val="65000"/>
                  <a:lumOff val="35000"/>
                </a:schemeClr>
              </a:solidFill>
            </a:endParaRPr>
          </a:p>
          <a:p>
            <a:endParaRPr lang="en-IN" dirty="0"/>
          </a:p>
        </p:txBody>
      </p:sp>
      <p:pic>
        <p:nvPicPr>
          <p:cNvPr id="4" name="Picture 3">
            <a:extLst>
              <a:ext uri="{FF2B5EF4-FFF2-40B4-BE49-F238E27FC236}">
                <a16:creationId xmlns:a16="http://schemas.microsoft.com/office/drawing/2014/main" id="{6470BF8B-E278-B5E6-FFD7-31B555E55358}"/>
              </a:ext>
            </a:extLst>
          </p:cNvPr>
          <p:cNvPicPr>
            <a:picLocks noChangeAspect="1"/>
          </p:cNvPicPr>
          <p:nvPr/>
        </p:nvPicPr>
        <p:blipFill>
          <a:blip r:embed="rId2"/>
          <a:stretch>
            <a:fillRect/>
          </a:stretch>
        </p:blipFill>
        <p:spPr>
          <a:xfrm>
            <a:off x="1118262" y="1693423"/>
            <a:ext cx="10515599" cy="3222783"/>
          </a:xfrm>
          <a:prstGeom prst="rect">
            <a:avLst/>
          </a:prstGeom>
        </p:spPr>
      </p:pic>
      <p:pic>
        <p:nvPicPr>
          <p:cNvPr id="5" name="Picture 4">
            <a:extLst>
              <a:ext uri="{FF2B5EF4-FFF2-40B4-BE49-F238E27FC236}">
                <a16:creationId xmlns:a16="http://schemas.microsoft.com/office/drawing/2014/main" id="{3798CDA0-4CA7-D554-1F52-4824518828DE}"/>
              </a:ext>
            </a:extLst>
          </p:cNvPr>
          <p:cNvPicPr>
            <a:picLocks noChangeAspect="1"/>
          </p:cNvPicPr>
          <p:nvPr/>
        </p:nvPicPr>
        <p:blipFill>
          <a:blip r:embed="rId3"/>
          <a:stretch>
            <a:fillRect/>
          </a:stretch>
        </p:blipFill>
        <p:spPr>
          <a:xfrm>
            <a:off x="8402320" y="2458721"/>
            <a:ext cx="3517952" cy="3423920"/>
          </a:xfrm>
          <a:prstGeom prst="rect">
            <a:avLst/>
          </a:prstGeom>
        </p:spPr>
      </p:pic>
    </p:spTree>
    <p:extLst>
      <p:ext uri="{BB962C8B-B14F-4D97-AF65-F5344CB8AC3E}">
        <p14:creationId xmlns:p14="http://schemas.microsoft.com/office/powerpoint/2010/main" val="33470946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5D1D5-9421-73F8-763C-5E6D58A8432A}"/>
              </a:ext>
            </a:extLst>
          </p:cNvPr>
          <p:cNvSpPr>
            <a:spLocks noGrp="1"/>
          </p:cNvSpPr>
          <p:nvPr>
            <p:ph type="title"/>
          </p:nvPr>
        </p:nvSpPr>
        <p:spPr>
          <a:xfrm>
            <a:off x="831850" y="136793"/>
            <a:ext cx="10515600" cy="533529"/>
          </a:xfrm>
        </p:spPr>
        <p:txBody>
          <a:bodyPr>
            <a:normAutofit/>
          </a:bodyPr>
          <a:lstStyle/>
          <a:p>
            <a:r>
              <a:rPr lang="en-US" altLang="en-US" sz="2800" b="1" dirty="0">
                <a:solidFill>
                  <a:schemeClr val="tx1"/>
                </a:solidFill>
                <a:latin typeface="Times New Roman" panose="02020603050405020304" pitchFamily="18" charset="0"/>
                <a:cs typeface="Times New Roman" panose="02020603050405020304" pitchFamily="18" charset="0"/>
              </a:rPr>
              <a:t>🔹8. Tracks longer than average duration</a:t>
            </a:r>
            <a:endParaRPr lang="en-IN" sz="2800" dirty="0">
              <a:solidFill>
                <a:schemeClr val="tx1"/>
              </a:solidFill>
            </a:endParaRPr>
          </a:p>
        </p:txBody>
      </p:sp>
      <p:sp>
        <p:nvSpPr>
          <p:cNvPr id="3" name="Text Placeholder 2">
            <a:extLst>
              <a:ext uri="{FF2B5EF4-FFF2-40B4-BE49-F238E27FC236}">
                <a16:creationId xmlns:a16="http://schemas.microsoft.com/office/drawing/2014/main" id="{D6176D85-37EB-F2A9-20B8-041234EE87CB}"/>
              </a:ext>
            </a:extLst>
          </p:cNvPr>
          <p:cNvSpPr>
            <a:spLocks noGrp="1"/>
          </p:cNvSpPr>
          <p:nvPr>
            <p:ph type="body" idx="1"/>
          </p:nvPr>
        </p:nvSpPr>
        <p:spPr>
          <a:xfrm>
            <a:off x="995680" y="670322"/>
            <a:ext cx="10351770" cy="5419329"/>
          </a:xfrm>
          <a:ln>
            <a:solidFill>
              <a:schemeClr val="bg1"/>
            </a:solidFill>
          </a:ln>
        </p:spPr>
        <p:txBody>
          <a:bodyPr/>
          <a:lstStyle/>
          <a:p>
            <a:r>
              <a:rPr lang="en-US" dirty="0">
                <a:solidFill>
                  <a:schemeClr val="tx1">
                    <a:lumMod val="65000"/>
                    <a:lumOff val="35000"/>
                  </a:schemeClr>
                </a:solidFill>
              </a:rPr>
              <a:t>These tracks exceed the average song duration, indicating extended</a:t>
            </a:r>
          </a:p>
          <a:p>
            <a:r>
              <a:rPr lang="en-US" dirty="0">
                <a:solidFill>
                  <a:schemeClr val="tx1">
                    <a:lumMod val="65000"/>
                    <a:lumOff val="35000"/>
                  </a:schemeClr>
                </a:solidFill>
              </a:rPr>
              <a:t>compositions or instrumental pieces.</a:t>
            </a:r>
            <a:endParaRPr lang="en-US" b="1" dirty="0">
              <a:solidFill>
                <a:schemeClr val="tx1">
                  <a:lumMod val="65000"/>
                  <a:lumOff val="35000"/>
                </a:schemeClr>
              </a:solidFill>
            </a:endParaRPr>
          </a:p>
          <a:p>
            <a:endParaRPr lang="en-IN" dirty="0"/>
          </a:p>
        </p:txBody>
      </p:sp>
      <p:pic>
        <p:nvPicPr>
          <p:cNvPr id="4" name="Picture 3">
            <a:extLst>
              <a:ext uri="{FF2B5EF4-FFF2-40B4-BE49-F238E27FC236}">
                <a16:creationId xmlns:a16="http://schemas.microsoft.com/office/drawing/2014/main" id="{AC1D00D0-2DAE-6846-0083-4DEFFAB878D5}"/>
              </a:ext>
            </a:extLst>
          </p:cNvPr>
          <p:cNvPicPr>
            <a:picLocks noChangeAspect="1"/>
          </p:cNvPicPr>
          <p:nvPr/>
        </p:nvPicPr>
        <p:blipFill>
          <a:blip r:embed="rId2"/>
          <a:stretch>
            <a:fillRect/>
          </a:stretch>
        </p:blipFill>
        <p:spPr>
          <a:xfrm>
            <a:off x="1204100" y="1997219"/>
            <a:ext cx="6887848" cy="2466625"/>
          </a:xfrm>
          <a:prstGeom prst="rect">
            <a:avLst/>
          </a:prstGeom>
          <a:ln>
            <a:noFill/>
          </a:ln>
        </p:spPr>
      </p:pic>
      <p:pic>
        <p:nvPicPr>
          <p:cNvPr id="5" name="Picture 4">
            <a:extLst>
              <a:ext uri="{FF2B5EF4-FFF2-40B4-BE49-F238E27FC236}">
                <a16:creationId xmlns:a16="http://schemas.microsoft.com/office/drawing/2014/main" id="{875A4F63-A8A4-FFD0-5E09-7CEA21ADFEF0}"/>
              </a:ext>
            </a:extLst>
          </p:cNvPr>
          <p:cNvPicPr>
            <a:picLocks noChangeAspect="1"/>
          </p:cNvPicPr>
          <p:nvPr/>
        </p:nvPicPr>
        <p:blipFill>
          <a:blip r:embed="rId3"/>
          <a:stretch>
            <a:fillRect/>
          </a:stretch>
        </p:blipFill>
        <p:spPr>
          <a:xfrm>
            <a:off x="8300720" y="1524001"/>
            <a:ext cx="3218256" cy="4130206"/>
          </a:xfrm>
          <a:prstGeom prst="rect">
            <a:avLst/>
          </a:prstGeom>
        </p:spPr>
      </p:pic>
    </p:spTree>
    <p:extLst>
      <p:ext uri="{BB962C8B-B14F-4D97-AF65-F5344CB8AC3E}">
        <p14:creationId xmlns:p14="http://schemas.microsoft.com/office/powerpoint/2010/main" val="35859319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28010-5700-0A66-B67D-0F46B8DD251F}"/>
              </a:ext>
            </a:extLst>
          </p:cNvPr>
          <p:cNvSpPr>
            <a:spLocks noGrp="1"/>
          </p:cNvSpPr>
          <p:nvPr>
            <p:ph type="title"/>
          </p:nvPr>
        </p:nvSpPr>
        <p:spPr>
          <a:xfrm>
            <a:off x="513347" y="106502"/>
            <a:ext cx="11341769" cy="508423"/>
          </a:xfrm>
        </p:spPr>
        <p:txBody>
          <a:bodyPr>
            <a:normAutofit/>
          </a:bodyPr>
          <a:lstStyle/>
          <a:p>
            <a:r>
              <a:rPr lang="en-US" altLang="en-US" sz="2800" b="1" dirty="0">
                <a:solidFill>
                  <a:schemeClr val="tx1"/>
                </a:solidFill>
                <a:latin typeface="Times New Roman" panose="02020603050405020304" pitchFamily="18" charset="0"/>
                <a:cs typeface="Times New Roman" panose="02020603050405020304" pitchFamily="18" charset="0"/>
              </a:rPr>
              <a:t>🔹9. How much has each customer spent on the top-selling artist?</a:t>
            </a:r>
            <a:endParaRPr lang="en-IN" sz="2800" dirty="0"/>
          </a:p>
        </p:txBody>
      </p:sp>
      <p:sp>
        <p:nvSpPr>
          <p:cNvPr id="3" name="Text Placeholder 2">
            <a:extLst>
              <a:ext uri="{FF2B5EF4-FFF2-40B4-BE49-F238E27FC236}">
                <a16:creationId xmlns:a16="http://schemas.microsoft.com/office/drawing/2014/main" id="{A8BA3A46-31F0-BDF1-5B80-4BB9B5043E31}"/>
              </a:ext>
            </a:extLst>
          </p:cNvPr>
          <p:cNvSpPr>
            <a:spLocks noGrp="1"/>
          </p:cNvSpPr>
          <p:nvPr>
            <p:ph type="body" idx="1"/>
          </p:nvPr>
        </p:nvSpPr>
        <p:spPr>
          <a:xfrm>
            <a:off x="660829" y="747253"/>
            <a:ext cx="11194287" cy="5342398"/>
          </a:xfrm>
          <a:ln>
            <a:solidFill>
              <a:schemeClr val="bg1"/>
            </a:solidFill>
          </a:ln>
        </p:spPr>
        <p:txBody>
          <a:bodyPr/>
          <a:lstStyle/>
          <a:p>
            <a:r>
              <a:rPr lang="en-US" dirty="0">
                <a:solidFill>
                  <a:schemeClr val="tx1">
                    <a:lumMod val="65000"/>
                    <a:lumOff val="35000"/>
                  </a:schemeClr>
                </a:solidFill>
              </a:rPr>
              <a:t>This helps determine which customers contribute most to specific artist’s sales.</a:t>
            </a:r>
            <a:endParaRPr lang="en-US" b="1" dirty="0">
              <a:solidFill>
                <a:schemeClr val="tx1">
                  <a:lumMod val="65000"/>
                  <a:lumOff val="35000"/>
                </a:schemeClr>
              </a:solidFill>
            </a:endParaRPr>
          </a:p>
          <a:p>
            <a:endParaRPr lang="en-IN" dirty="0"/>
          </a:p>
        </p:txBody>
      </p:sp>
      <p:pic>
        <p:nvPicPr>
          <p:cNvPr id="4" name="Picture 3">
            <a:extLst>
              <a:ext uri="{FF2B5EF4-FFF2-40B4-BE49-F238E27FC236}">
                <a16:creationId xmlns:a16="http://schemas.microsoft.com/office/drawing/2014/main" id="{B6340AE1-EB2C-F5AF-A294-C5DC3B41717C}"/>
              </a:ext>
            </a:extLst>
          </p:cNvPr>
          <p:cNvPicPr>
            <a:picLocks noChangeAspect="1"/>
          </p:cNvPicPr>
          <p:nvPr/>
        </p:nvPicPr>
        <p:blipFill>
          <a:blip r:embed="rId2"/>
          <a:stretch>
            <a:fillRect/>
          </a:stretch>
        </p:blipFill>
        <p:spPr>
          <a:xfrm>
            <a:off x="901392" y="1387822"/>
            <a:ext cx="8953808" cy="4921538"/>
          </a:xfrm>
          <a:prstGeom prst="rect">
            <a:avLst/>
          </a:prstGeom>
        </p:spPr>
      </p:pic>
      <p:pic>
        <p:nvPicPr>
          <p:cNvPr id="7" name="Picture 6">
            <a:extLst>
              <a:ext uri="{FF2B5EF4-FFF2-40B4-BE49-F238E27FC236}">
                <a16:creationId xmlns:a16="http://schemas.microsoft.com/office/drawing/2014/main" id="{68F2A6DA-F9B5-7679-B435-3034A083EE5B}"/>
              </a:ext>
            </a:extLst>
          </p:cNvPr>
          <p:cNvPicPr>
            <a:picLocks noChangeAspect="1"/>
          </p:cNvPicPr>
          <p:nvPr/>
        </p:nvPicPr>
        <p:blipFill>
          <a:blip r:embed="rId3"/>
          <a:stretch>
            <a:fillRect/>
          </a:stretch>
        </p:blipFill>
        <p:spPr>
          <a:xfrm>
            <a:off x="6837681" y="2362357"/>
            <a:ext cx="4344014" cy="2423003"/>
          </a:xfrm>
          <a:prstGeom prst="rect">
            <a:avLst/>
          </a:prstGeom>
        </p:spPr>
      </p:pic>
    </p:spTree>
    <p:extLst>
      <p:ext uri="{BB962C8B-B14F-4D97-AF65-F5344CB8AC3E}">
        <p14:creationId xmlns:p14="http://schemas.microsoft.com/office/powerpoint/2010/main" val="21054641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3D2F0-C5DA-5875-8AD2-93BAED920223}"/>
              </a:ext>
            </a:extLst>
          </p:cNvPr>
          <p:cNvSpPr>
            <a:spLocks noGrp="1"/>
          </p:cNvSpPr>
          <p:nvPr>
            <p:ph type="title"/>
          </p:nvPr>
        </p:nvSpPr>
        <p:spPr>
          <a:xfrm>
            <a:off x="591217" y="97821"/>
            <a:ext cx="11119519" cy="522138"/>
          </a:xfrm>
        </p:spPr>
        <p:txBody>
          <a:bodyPr>
            <a:normAutofit/>
          </a:bodyPr>
          <a:lstStyle/>
          <a:p>
            <a:r>
              <a:rPr lang="en-US" altLang="en-US" sz="2800" b="1" dirty="0">
                <a:solidFill>
                  <a:schemeClr val="tx1"/>
                </a:solidFill>
                <a:latin typeface="Times New Roman" panose="02020603050405020304" pitchFamily="18" charset="0"/>
                <a:cs typeface="Times New Roman" panose="02020603050405020304" pitchFamily="18" charset="0"/>
              </a:rPr>
              <a:t>🔹10. Most popular genre in each country</a:t>
            </a:r>
            <a:endParaRPr lang="en-IN" sz="2800" dirty="0"/>
          </a:p>
        </p:txBody>
      </p:sp>
      <p:sp>
        <p:nvSpPr>
          <p:cNvPr id="3" name="Text Placeholder 2">
            <a:extLst>
              <a:ext uri="{FF2B5EF4-FFF2-40B4-BE49-F238E27FC236}">
                <a16:creationId xmlns:a16="http://schemas.microsoft.com/office/drawing/2014/main" id="{44424EDB-787D-340A-6452-B6BA55EAF5A3}"/>
              </a:ext>
            </a:extLst>
          </p:cNvPr>
          <p:cNvSpPr>
            <a:spLocks noGrp="1"/>
          </p:cNvSpPr>
          <p:nvPr>
            <p:ph type="body" idx="1"/>
          </p:nvPr>
        </p:nvSpPr>
        <p:spPr>
          <a:xfrm>
            <a:off x="591217" y="768349"/>
            <a:ext cx="11119519" cy="5321302"/>
          </a:xfrm>
          <a:ln>
            <a:solidFill>
              <a:srgbClr val="FFFFFF"/>
            </a:solidFill>
          </a:ln>
        </p:spPr>
        <p:txBody>
          <a:bodyPr/>
          <a:lstStyle/>
          <a:p>
            <a:r>
              <a:rPr lang="en-US" dirty="0">
                <a:solidFill>
                  <a:schemeClr val="tx1">
                    <a:lumMod val="65000"/>
                    <a:lumOff val="35000"/>
                  </a:schemeClr>
                </a:solidFill>
              </a:rPr>
              <a:t>This query shows the </a:t>
            </a:r>
            <a:r>
              <a:rPr lang="en-US" dirty="0">
                <a:solidFill>
                  <a:schemeClr val="accent2"/>
                </a:solidFill>
              </a:rPr>
              <a:t>most purchased genre per country</a:t>
            </a:r>
            <a:r>
              <a:rPr lang="en-US" dirty="0">
                <a:solidFill>
                  <a:schemeClr val="tx1">
                    <a:lumMod val="65000"/>
                    <a:lumOff val="35000"/>
                  </a:schemeClr>
                </a:solidFill>
              </a:rPr>
              <a:t>, helping with region-specific</a:t>
            </a:r>
          </a:p>
          <a:p>
            <a:r>
              <a:rPr lang="en-US" dirty="0">
                <a:solidFill>
                  <a:schemeClr val="tx1">
                    <a:lumMod val="65000"/>
                    <a:lumOff val="35000"/>
                  </a:schemeClr>
                </a:solidFill>
              </a:rPr>
              <a:t>music marketing or genre-focused promotions.</a:t>
            </a:r>
            <a:endParaRPr lang="en-US" b="1" dirty="0">
              <a:solidFill>
                <a:schemeClr val="tx1">
                  <a:lumMod val="65000"/>
                  <a:lumOff val="35000"/>
                </a:schemeClr>
              </a:solidFill>
            </a:endParaRPr>
          </a:p>
          <a:p>
            <a:endParaRPr lang="en-IN" dirty="0"/>
          </a:p>
        </p:txBody>
      </p:sp>
      <p:pic>
        <p:nvPicPr>
          <p:cNvPr id="4" name="Picture 3">
            <a:extLst>
              <a:ext uri="{FF2B5EF4-FFF2-40B4-BE49-F238E27FC236}">
                <a16:creationId xmlns:a16="http://schemas.microsoft.com/office/drawing/2014/main" id="{DD12412A-B902-06EA-B928-A8343F506DA9}"/>
              </a:ext>
            </a:extLst>
          </p:cNvPr>
          <p:cNvPicPr>
            <a:picLocks noChangeAspect="1"/>
          </p:cNvPicPr>
          <p:nvPr/>
        </p:nvPicPr>
        <p:blipFill>
          <a:blip r:embed="rId2"/>
          <a:stretch>
            <a:fillRect/>
          </a:stretch>
        </p:blipFill>
        <p:spPr>
          <a:xfrm>
            <a:off x="908936" y="1702137"/>
            <a:ext cx="9425620" cy="4387514"/>
          </a:xfrm>
          <a:prstGeom prst="rect">
            <a:avLst/>
          </a:prstGeom>
        </p:spPr>
      </p:pic>
      <p:pic>
        <p:nvPicPr>
          <p:cNvPr id="5" name="Picture 4">
            <a:extLst>
              <a:ext uri="{FF2B5EF4-FFF2-40B4-BE49-F238E27FC236}">
                <a16:creationId xmlns:a16="http://schemas.microsoft.com/office/drawing/2014/main" id="{7912B893-0358-A559-BE2E-3BD4977A4A3B}"/>
              </a:ext>
            </a:extLst>
          </p:cNvPr>
          <p:cNvPicPr>
            <a:picLocks noChangeAspect="1"/>
          </p:cNvPicPr>
          <p:nvPr/>
        </p:nvPicPr>
        <p:blipFill>
          <a:blip r:embed="rId3"/>
          <a:stretch>
            <a:fillRect/>
          </a:stretch>
        </p:blipFill>
        <p:spPr>
          <a:xfrm>
            <a:off x="7632919" y="2353246"/>
            <a:ext cx="3967864" cy="2919793"/>
          </a:xfrm>
          <a:prstGeom prst="rect">
            <a:avLst/>
          </a:prstGeom>
        </p:spPr>
      </p:pic>
    </p:spTree>
    <p:extLst>
      <p:ext uri="{BB962C8B-B14F-4D97-AF65-F5344CB8AC3E}">
        <p14:creationId xmlns:p14="http://schemas.microsoft.com/office/powerpoint/2010/main" val="9977953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F7BEA-A4EE-7639-D0EC-975A4288CEB4}"/>
              </a:ext>
            </a:extLst>
          </p:cNvPr>
          <p:cNvSpPr>
            <a:spLocks noGrp="1"/>
          </p:cNvSpPr>
          <p:nvPr>
            <p:ph type="title"/>
          </p:nvPr>
        </p:nvSpPr>
        <p:spPr>
          <a:xfrm>
            <a:off x="481264" y="131004"/>
            <a:ext cx="11710736" cy="480030"/>
          </a:xfrm>
        </p:spPr>
        <p:txBody>
          <a:bodyPr>
            <a:normAutofit/>
          </a:bodyPr>
          <a:lstStyle/>
          <a:p>
            <a:r>
              <a:rPr lang="en-US" altLang="en-US" sz="2800" b="1" dirty="0">
                <a:solidFill>
                  <a:schemeClr val="tx1"/>
                </a:solidFill>
                <a:latin typeface="Times New Roman" panose="02020603050405020304" pitchFamily="18" charset="0"/>
                <a:cs typeface="Times New Roman" panose="02020603050405020304" pitchFamily="18" charset="0"/>
              </a:rPr>
              <a:t>🔹11. Top spending customer in each country</a:t>
            </a:r>
            <a:endParaRPr lang="en-IN" sz="2800" dirty="0"/>
          </a:p>
        </p:txBody>
      </p:sp>
      <p:sp>
        <p:nvSpPr>
          <p:cNvPr id="3" name="Text Placeholder 2">
            <a:extLst>
              <a:ext uri="{FF2B5EF4-FFF2-40B4-BE49-F238E27FC236}">
                <a16:creationId xmlns:a16="http://schemas.microsoft.com/office/drawing/2014/main" id="{8C514BE4-6409-227C-97CA-659684A5C7DA}"/>
              </a:ext>
            </a:extLst>
          </p:cNvPr>
          <p:cNvSpPr>
            <a:spLocks noGrp="1"/>
          </p:cNvSpPr>
          <p:nvPr>
            <p:ph type="body" idx="1"/>
          </p:nvPr>
        </p:nvSpPr>
        <p:spPr>
          <a:xfrm>
            <a:off x="481264" y="692357"/>
            <a:ext cx="11470104" cy="5473285"/>
          </a:xfrm>
          <a:ln>
            <a:solidFill>
              <a:srgbClr val="FFFFFF"/>
            </a:solidFill>
          </a:ln>
        </p:spPr>
        <p:txBody>
          <a:bodyPr/>
          <a:lstStyle/>
          <a:p>
            <a:r>
              <a:rPr lang="en-US" dirty="0">
                <a:solidFill>
                  <a:schemeClr val="tx1">
                    <a:lumMod val="65000"/>
                    <a:lumOff val="35000"/>
                  </a:schemeClr>
                </a:solidFill>
              </a:rPr>
              <a:t>This analysis is useful for identifying </a:t>
            </a:r>
            <a:r>
              <a:rPr lang="en-US" dirty="0">
                <a:solidFill>
                  <a:schemeClr val="accent2"/>
                </a:solidFill>
              </a:rPr>
              <a:t>high-value customers </a:t>
            </a:r>
            <a:r>
              <a:rPr lang="en-US" dirty="0">
                <a:solidFill>
                  <a:schemeClr val="tx1">
                    <a:lumMod val="65000"/>
                    <a:lumOff val="35000"/>
                  </a:schemeClr>
                </a:solidFill>
              </a:rPr>
              <a:t>by geography for loyalty</a:t>
            </a:r>
          </a:p>
          <a:p>
            <a:r>
              <a:rPr lang="en-US" dirty="0">
                <a:solidFill>
                  <a:schemeClr val="tx1">
                    <a:lumMod val="65000"/>
                    <a:lumOff val="35000"/>
                  </a:schemeClr>
                </a:solidFill>
              </a:rPr>
              <a:t>programs, promotions, or premium service targeting.</a:t>
            </a:r>
            <a:endParaRPr lang="en-US" b="1" dirty="0">
              <a:solidFill>
                <a:schemeClr val="tx1">
                  <a:lumMod val="65000"/>
                  <a:lumOff val="35000"/>
                </a:schemeClr>
              </a:solidFill>
            </a:endParaRPr>
          </a:p>
          <a:p>
            <a:endParaRPr lang="en-IN" dirty="0"/>
          </a:p>
        </p:txBody>
      </p:sp>
      <p:pic>
        <p:nvPicPr>
          <p:cNvPr id="4" name="Picture 3">
            <a:extLst>
              <a:ext uri="{FF2B5EF4-FFF2-40B4-BE49-F238E27FC236}">
                <a16:creationId xmlns:a16="http://schemas.microsoft.com/office/drawing/2014/main" id="{AF399EB8-EEAB-EA11-7494-9A52C0FA782D}"/>
              </a:ext>
            </a:extLst>
          </p:cNvPr>
          <p:cNvPicPr>
            <a:picLocks noChangeAspect="1"/>
          </p:cNvPicPr>
          <p:nvPr/>
        </p:nvPicPr>
        <p:blipFill>
          <a:blip r:embed="rId2"/>
          <a:stretch>
            <a:fillRect/>
          </a:stretch>
        </p:blipFill>
        <p:spPr>
          <a:xfrm>
            <a:off x="789669" y="1686233"/>
            <a:ext cx="9657346" cy="4700336"/>
          </a:xfrm>
          <a:prstGeom prst="rect">
            <a:avLst/>
          </a:prstGeom>
        </p:spPr>
      </p:pic>
      <p:pic>
        <p:nvPicPr>
          <p:cNvPr id="5" name="Picture 4">
            <a:extLst>
              <a:ext uri="{FF2B5EF4-FFF2-40B4-BE49-F238E27FC236}">
                <a16:creationId xmlns:a16="http://schemas.microsoft.com/office/drawing/2014/main" id="{81265FC7-5812-88D0-2154-7500066A13AD}"/>
              </a:ext>
            </a:extLst>
          </p:cNvPr>
          <p:cNvPicPr>
            <a:picLocks noChangeAspect="1"/>
          </p:cNvPicPr>
          <p:nvPr/>
        </p:nvPicPr>
        <p:blipFill>
          <a:blip r:embed="rId3"/>
          <a:stretch>
            <a:fillRect/>
          </a:stretch>
        </p:blipFill>
        <p:spPr>
          <a:xfrm>
            <a:off x="7454941" y="2470130"/>
            <a:ext cx="4496427" cy="2701637"/>
          </a:xfrm>
          <a:prstGeom prst="rect">
            <a:avLst/>
          </a:prstGeom>
        </p:spPr>
      </p:pic>
    </p:spTree>
    <p:extLst>
      <p:ext uri="{BB962C8B-B14F-4D97-AF65-F5344CB8AC3E}">
        <p14:creationId xmlns:p14="http://schemas.microsoft.com/office/powerpoint/2010/main" val="8663170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E1655-3879-BFE9-2AF1-7D3EBCE1A480}"/>
              </a:ext>
            </a:extLst>
          </p:cNvPr>
          <p:cNvSpPr>
            <a:spLocks noGrp="1"/>
          </p:cNvSpPr>
          <p:nvPr>
            <p:ph type="title"/>
          </p:nvPr>
        </p:nvSpPr>
        <p:spPr>
          <a:xfrm>
            <a:off x="505067" y="255638"/>
            <a:ext cx="11598442" cy="799320"/>
          </a:xfrm>
        </p:spPr>
        <p:txBody>
          <a:bodyPr>
            <a:normAutofit/>
          </a:bodyPr>
          <a:lstStyle/>
          <a:p>
            <a:r>
              <a:rPr lang="en-IN" sz="4800" b="1" dirty="0">
                <a:solidFill>
                  <a:srgbClr val="C00000"/>
                </a:solidFill>
                <a:latin typeface="Times New Roman" panose="02020603050405020304" pitchFamily="18" charset="0"/>
                <a:cs typeface="Times New Roman" panose="02020603050405020304" pitchFamily="18" charset="0"/>
              </a:rPr>
              <a:t>Final Business Insights</a:t>
            </a:r>
            <a:endParaRPr lang="en-IN" sz="4800" b="1" dirty="0">
              <a:solidFill>
                <a:srgbClr val="C00000"/>
              </a:solidFill>
            </a:endParaRPr>
          </a:p>
        </p:txBody>
      </p:sp>
      <p:sp>
        <p:nvSpPr>
          <p:cNvPr id="3" name="Text Placeholder 2">
            <a:extLst>
              <a:ext uri="{FF2B5EF4-FFF2-40B4-BE49-F238E27FC236}">
                <a16:creationId xmlns:a16="http://schemas.microsoft.com/office/drawing/2014/main" id="{C510ACE6-8C50-9D32-4F59-576FE9D5F84B}"/>
              </a:ext>
            </a:extLst>
          </p:cNvPr>
          <p:cNvSpPr>
            <a:spLocks noGrp="1"/>
          </p:cNvSpPr>
          <p:nvPr>
            <p:ph type="body" idx="1"/>
          </p:nvPr>
        </p:nvSpPr>
        <p:spPr>
          <a:xfrm>
            <a:off x="505067" y="1340094"/>
            <a:ext cx="11598441" cy="4780506"/>
          </a:xfrm>
        </p:spPr>
        <p:txBody>
          <a:bodyPr>
            <a:normAutofit fontScale="92500" lnSpcReduction="20000"/>
          </a:bodyPr>
          <a:lstStyle/>
          <a:p>
            <a:pPr marL="342900" indent="-342900">
              <a:lnSpc>
                <a:spcPct val="100000"/>
              </a:lnSpc>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Rock</a:t>
            </a:r>
            <a:r>
              <a:rPr lang="en-US" dirty="0">
                <a:solidFill>
                  <a:schemeClr val="tx1"/>
                </a:solidFill>
                <a:latin typeface="Times New Roman" panose="02020603050405020304" pitchFamily="18" charset="0"/>
                <a:cs typeface="Times New Roman" panose="02020603050405020304" pitchFamily="18" charset="0"/>
              </a:rPr>
              <a:t> is the most popular music genre among customers.</a:t>
            </a:r>
          </a:p>
          <a:p>
            <a:pPr marL="342900" indent="-342900">
              <a:lnSpc>
                <a:spcPct val="100000"/>
              </a:lnSpc>
              <a:buFont typeface="Wingdings" panose="05000000000000000000" pitchFamily="2" charset="2"/>
              <a:buChar char="§"/>
            </a:pPr>
            <a:endParaRPr lang="en-US" dirty="0">
              <a:solidFill>
                <a:schemeClr val="tx1"/>
              </a:solidFill>
              <a:latin typeface="Times New Roman" panose="02020603050405020304" pitchFamily="18" charset="0"/>
              <a:cs typeface="Times New Roman" panose="02020603050405020304" pitchFamily="18" charset="0"/>
            </a:endParaRPr>
          </a:p>
          <a:p>
            <a:pPr marL="342900" indent="-342900">
              <a:lnSpc>
                <a:spcPct val="10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A small group of </a:t>
            </a:r>
            <a:r>
              <a:rPr lang="en-US" b="1" dirty="0">
                <a:solidFill>
                  <a:schemeClr val="tx1"/>
                </a:solidFill>
                <a:latin typeface="Times New Roman" panose="02020603050405020304" pitchFamily="18" charset="0"/>
                <a:cs typeface="Times New Roman" panose="02020603050405020304" pitchFamily="18" charset="0"/>
              </a:rPr>
              <a:t>customers contributes to a large portion of total revenue</a:t>
            </a:r>
            <a:r>
              <a:rPr lang="en-US" dirty="0">
                <a:solidFill>
                  <a:schemeClr val="tx1"/>
                </a:solidFill>
                <a:latin typeface="Times New Roman" panose="02020603050405020304" pitchFamily="18" charset="0"/>
                <a:cs typeface="Times New Roman" panose="02020603050405020304" pitchFamily="18" charset="0"/>
              </a:rPr>
              <a:t>.</a:t>
            </a:r>
          </a:p>
          <a:p>
            <a:pPr marL="342900" indent="-342900">
              <a:lnSpc>
                <a:spcPct val="100000"/>
              </a:lnSpc>
              <a:buFont typeface="Wingdings" panose="05000000000000000000" pitchFamily="2" charset="2"/>
              <a:buChar char="§"/>
            </a:pPr>
            <a:endParaRPr lang="en-US" dirty="0">
              <a:solidFill>
                <a:schemeClr val="tx1"/>
              </a:solidFill>
              <a:latin typeface="Times New Roman" panose="02020603050405020304" pitchFamily="18" charset="0"/>
              <a:cs typeface="Times New Roman" panose="02020603050405020304" pitchFamily="18" charset="0"/>
            </a:endParaRPr>
          </a:p>
          <a:p>
            <a:pPr marL="342900" indent="-342900">
              <a:lnSpc>
                <a:spcPct val="100000"/>
              </a:lnSpc>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Cities like Prague, Paris, and London</a:t>
            </a:r>
            <a:r>
              <a:rPr lang="en-US" dirty="0">
                <a:solidFill>
                  <a:schemeClr val="tx1"/>
                </a:solidFill>
                <a:latin typeface="Times New Roman" panose="02020603050405020304" pitchFamily="18" charset="0"/>
                <a:cs typeface="Times New Roman" panose="02020603050405020304" pitchFamily="18" charset="0"/>
              </a:rPr>
              <a:t> have the highest customer spending.</a:t>
            </a:r>
          </a:p>
          <a:p>
            <a:pPr marL="342900" indent="-342900">
              <a:lnSpc>
                <a:spcPct val="100000"/>
              </a:lnSpc>
              <a:buFont typeface="Wingdings" panose="05000000000000000000" pitchFamily="2" charset="2"/>
              <a:buChar char="§"/>
            </a:pPr>
            <a:endParaRPr lang="en-US" dirty="0">
              <a:solidFill>
                <a:schemeClr val="tx1"/>
              </a:solidFill>
              <a:latin typeface="Times New Roman" panose="02020603050405020304" pitchFamily="18" charset="0"/>
              <a:cs typeface="Times New Roman" panose="02020603050405020304" pitchFamily="18" charset="0"/>
            </a:endParaRPr>
          </a:p>
          <a:p>
            <a:pPr marL="342900" indent="-342900">
              <a:lnSpc>
                <a:spcPct val="100000"/>
              </a:lnSpc>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Countries like the USA, Canada, and France</a:t>
            </a:r>
            <a:r>
              <a:rPr lang="en-US" dirty="0">
                <a:solidFill>
                  <a:schemeClr val="tx1"/>
                </a:solidFill>
                <a:latin typeface="Times New Roman" panose="02020603050405020304" pitchFamily="18" charset="0"/>
                <a:cs typeface="Times New Roman" panose="02020603050405020304" pitchFamily="18" charset="0"/>
              </a:rPr>
              <a:t> generate the most invoices.</a:t>
            </a:r>
          </a:p>
          <a:p>
            <a:pPr marL="342900" indent="-342900">
              <a:lnSpc>
                <a:spcPct val="100000"/>
              </a:lnSpc>
              <a:buFont typeface="Wingdings" panose="05000000000000000000" pitchFamily="2" charset="2"/>
              <a:buChar char="§"/>
            </a:pPr>
            <a:endParaRPr lang="en-US" dirty="0">
              <a:solidFill>
                <a:schemeClr val="tx1"/>
              </a:solidFill>
              <a:latin typeface="Times New Roman" panose="02020603050405020304" pitchFamily="18" charset="0"/>
              <a:cs typeface="Times New Roman" panose="02020603050405020304" pitchFamily="18" charset="0"/>
            </a:endParaRPr>
          </a:p>
          <a:p>
            <a:pPr marL="342900" indent="-342900">
              <a:lnSpc>
                <a:spcPct val="10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The </a:t>
            </a:r>
            <a:r>
              <a:rPr lang="en-US" b="1" dirty="0">
                <a:solidFill>
                  <a:schemeClr val="tx1"/>
                </a:solidFill>
                <a:latin typeface="Times New Roman" panose="02020603050405020304" pitchFamily="18" charset="0"/>
                <a:cs typeface="Times New Roman" panose="02020603050405020304" pitchFamily="18" charset="0"/>
              </a:rPr>
              <a:t>senior-most employee</a:t>
            </a:r>
            <a:r>
              <a:rPr lang="en-US" dirty="0">
                <a:solidFill>
                  <a:schemeClr val="tx1"/>
                </a:solidFill>
                <a:latin typeface="Times New Roman" panose="02020603050405020304" pitchFamily="18" charset="0"/>
                <a:cs typeface="Times New Roman" panose="02020603050405020304" pitchFamily="18" charset="0"/>
              </a:rPr>
              <a:t> can be identified to understand organizational hierarchy.</a:t>
            </a:r>
          </a:p>
          <a:p>
            <a:pPr>
              <a:lnSpc>
                <a:spcPct val="100000"/>
              </a:lnSpc>
            </a:pPr>
            <a:endParaRPr lang="en-US" dirty="0">
              <a:solidFill>
                <a:schemeClr val="tx1"/>
              </a:solidFill>
              <a:latin typeface="Times New Roman" panose="02020603050405020304" pitchFamily="18" charset="0"/>
              <a:cs typeface="Times New Roman" panose="02020603050405020304" pitchFamily="18" charset="0"/>
            </a:endParaRPr>
          </a:p>
          <a:p>
            <a:pPr marL="342900" indent="-342900">
              <a:lnSpc>
                <a:spcPct val="10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Some </a:t>
            </a:r>
            <a:r>
              <a:rPr lang="en-US" b="1" dirty="0">
                <a:solidFill>
                  <a:schemeClr val="tx1"/>
                </a:solidFill>
                <a:latin typeface="Times New Roman" panose="02020603050405020304" pitchFamily="18" charset="0"/>
                <a:cs typeface="Times New Roman" panose="02020603050405020304" pitchFamily="18" charset="0"/>
              </a:rPr>
              <a:t>tracks are longer than average</a:t>
            </a:r>
            <a:r>
              <a:rPr lang="en-US" dirty="0">
                <a:solidFill>
                  <a:schemeClr val="tx1"/>
                </a:solidFill>
                <a:latin typeface="Times New Roman" panose="02020603050405020304" pitchFamily="18" charset="0"/>
                <a:cs typeface="Times New Roman" panose="02020603050405020304" pitchFamily="18" charset="0"/>
              </a:rPr>
              <a:t>, which may indicate premium or special content.</a:t>
            </a:r>
          </a:p>
          <a:p>
            <a:endParaRPr lang="en-IN" dirty="0"/>
          </a:p>
        </p:txBody>
      </p:sp>
    </p:spTree>
    <p:extLst>
      <p:ext uri="{BB962C8B-B14F-4D97-AF65-F5344CB8AC3E}">
        <p14:creationId xmlns:p14="http://schemas.microsoft.com/office/powerpoint/2010/main" val="15597994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B0841-9041-5001-D554-E51BF11071FE}"/>
              </a:ext>
            </a:extLst>
          </p:cNvPr>
          <p:cNvSpPr>
            <a:spLocks noGrp="1"/>
          </p:cNvSpPr>
          <p:nvPr>
            <p:ph type="title"/>
          </p:nvPr>
        </p:nvSpPr>
        <p:spPr>
          <a:xfrm>
            <a:off x="557530" y="134939"/>
            <a:ext cx="10789920" cy="921702"/>
          </a:xfrm>
        </p:spPr>
        <p:txBody>
          <a:bodyPr>
            <a:normAutofit/>
          </a:bodyPr>
          <a:lstStyle/>
          <a:p>
            <a:r>
              <a:rPr lang="en-IN" sz="4800" b="1" dirty="0">
                <a:solidFill>
                  <a:srgbClr val="C00000"/>
                </a:solidFill>
                <a:latin typeface="Times New Roman" panose="02020603050405020304" pitchFamily="18" charset="0"/>
                <a:cs typeface="Times New Roman" panose="02020603050405020304" pitchFamily="18" charset="0"/>
              </a:rPr>
              <a:t>CONCLUSION</a:t>
            </a:r>
          </a:p>
        </p:txBody>
      </p:sp>
      <p:sp>
        <p:nvSpPr>
          <p:cNvPr id="3" name="Text Placeholder 2">
            <a:extLst>
              <a:ext uri="{FF2B5EF4-FFF2-40B4-BE49-F238E27FC236}">
                <a16:creationId xmlns:a16="http://schemas.microsoft.com/office/drawing/2014/main" id="{74D2A5A9-DF45-FF9A-A5EC-2530608D3ECF}"/>
              </a:ext>
            </a:extLst>
          </p:cNvPr>
          <p:cNvSpPr>
            <a:spLocks noGrp="1"/>
          </p:cNvSpPr>
          <p:nvPr>
            <p:ph type="body" idx="1"/>
          </p:nvPr>
        </p:nvSpPr>
        <p:spPr>
          <a:xfrm>
            <a:off x="557530" y="1290321"/>
            <a:ext cx="10789920" cy="4799330"/>
          </a:xfrm>
        </p:spPr>
        <p:txBody>
          <a:bodyPr>
            <a:normAutofit/>
          </a:bodyPr>
          <a:lstStyle/>
          <a:p>
            <a:pPr marL="571500" indent="-342900">
              <a:buFont typeface="Wingdings" panose="05000000000000000000" pitchFamily="2" charset="2"/>
              <a:buChar char="§"/>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Gained hands-on experience in SQL using a real music store database </a:t>
            </a:r>
          </a:p>
          <a:p>
            <a:pPr marL="571500" indent="-342900">
              <a:buFont typeface="Wingdings" panose="05000000000000000000" pitchFamily="2" charset="2"/>
              <a:buChar char="§"/>
            </a:pP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a:p>
            <a:pPr marL="571500" indent="-342900">
              <a:buFont typeface="Wingdings" panose="05000000000000000000" pitchFamily="2" charset="2"/>
              <a:buChar char="§"/>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Explored customer behavior, sales trends, and genre popularity</a:t>
            </a:r>
          </a:p>
          <a:p>
            <a:pPr marL="571500" indent="-342900">
              <a:buFont typeface="Wingdings" panose="05000000000000000000" pitchFamily="2" charset="2"/>
              <a:buChar char="§"/>
            </a:pP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a:p>
            <a:pPr marL="571500" indent="-342900">
              <a:buFont typeface="Wingdings" panose="05000000000000000000" pitchFamily="2" charset="2"/>
              <a:buChar char="§"/>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Learned to write complex queries using joins, subqueries, and grouping</a:t>
            </a:r>
          </a:p>
          <a:p>
            <a:pPr marL="571500" indent="-342900">
              <a:buFont typeface="Wingdings" panose="05000000000000000000" pitchFamily="2" charset="2"/>
              <a:buChar char="§"/>
            </a:pP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a:p>
            <a:pPr marL="571500" indent="-342900">
              <a:buFont typeface="Wingdings" panose="05000000000000000000" pitchFamily="2" charset="2"/>
              <a:buChar char="§"/>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Understood the importance of data relationships and schema design </a:t>
            </a:r>
          </a:p>
          <a:p>
            <a:pPr marL="571500" indent="-342900">
              <a:buFont typeface="Wingdings" panose="05000000000000000000" pitchFamily="2" charset="2"/>
              <a:buChar char="§"/>
            </a:pP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a:p>
            <a:pPr marL="571500" indent="-342900">
              <a:buFont typeface="Wingdings" panose="05000000000000000000" pitchFamily="2" charset="2"/>
              <a:buChar char="§"/>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Improved data analysis skills for business insights</a:t>
            </a:r>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66266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0C826-E255-2612-3AF1-D81AD6B26625}"/>
              </a:ext>
            </a:extLst>
          </p:cNvPr>
          <p:cNvSpPr>
            <a:spLocks noGrp="1"/>
          </p:cNvSpPr>
          <p:nvPr>
            <p:ph type="title"/>
          </p:nvPr>
        </p:nvSpPr>
        <p:spPr>
          <a:xfrm>
            <a:off x="715026" y="888766"/>
            <a:ext cx="11614484" cy="744704"/>
          </a:xfrm>
        </p:spPr>
        <p:txBody>
          <a:bodyPr>
            <a:normAutofit fontScale="90000"/>
          </a:bodyPr>
          <a:lstStyle/>
          <a:p>
            <a:r>
              <a:rPr lang="en-US" altLang="en-US" sz="5300" b="1" dirty="0">
                <a:solidFill>
                  <a:srgbClr val="C00000"/>
                </a:solidFill>
                <a:latin typeface="Times New Roman" panose="02020603050405020304" pitchFamily="18" charset="0"/>
                <a:cs typeface="Times New Roman" panose="02020603050405020304" pitchFamily="18" charset="0"/>
              </a:rPr>
              <a:t>Challenges &amp; Learnings</a:t>
            </a:r>
            <a:br>
              <a:rPr lang="en-US" altLang="en-US" b="1" dirty="0">
                <a:latin typeface="Arial" panose="020B0604020202020204" pitchFamily="34" charset="0"/>
              </a:rPr>
            </a:br>
            <a:endParaRPr lang="en-IN" dirty="0"/>
          </a:p>
        </p:txBody>
      </p:sp>
      <p:sp>
        <p:nvSpPr>
          <p:cNvPr id="3" name="Text Placeholder 2">
            <a:extLst>
              <a:ext uri="{FF2B5EF4-FFF2-40B4-BE49-F238E27FC236}">
                <a16:creationId xmlns:a16="http://schemas.microsoft.com/office/drawing/2014/main" id="{A293F6E0-41FA-9E6D-C4F9-0A19DC961B67}"/>
              </a:ext>
            </a:extLst>
          </p:cNvPr>
          <p:cNvSpPr>
            <a:spLocks noGrp="1"/>
          </p:cNvSpPr>
          <p:nvPr>
            <p:ph type="body" idx="1"/>
          </p:nvPr>
        </p:nvSpPr>
        <p:spPr>
          <a:xfrm>
            <a:off x="715026" y="1261118"/>
            <a:ext cx="11614484" cy="4854408"/>
          </a:xfrm>
        </p:spPr>
        <p:txBody>
          <a:bodyPr/>
          <a:lstStyle/>
          <a:p>
            <a:pPr marL="0" lvl="0" indent="0" eaLnBrk="0" fontAlgn="base" hangingPunct="0">
              <a:lnSpc>
                <a:spcPct val="100000"/>
              </a:lnSpc>
              <a:spcBef>
                <a:spcPct val="0"/>
              </a:spcBef>
              <a:spcAft>
                <a:spcPct val="0"/>
              </a:spcAft>
              <a:buClrTx/>
              <a:buSzTx/>
            </a:pPr>
            <a:r>
              <a:rPr lang="en-US" altLang="en-US" dirty="0">
                <a:solidFill>
                  <a:schemeClr val="tx1"/>
                </a:solidFill>
                <a:latin typeface="Times New Roman" panose="02020603050405020304" pitchFamily="18" charset="0"/>
                <a:cs typeface="Times New Roman" panose="02020603050405020304" pitchFamily="18" charset="0"/>
              </a:rPr>
              <a:t>One challenge I faced was importing large CSV files and dealing with foreign key errors. I resolved these by:</a:t>
            </a:r>
          </a:p>
          <a:p>
            <a:pPr marL="0" lvl="0" indent="0" eaLnBrk="0" fontAlgn="base" hangingPunct="0">
              <a:lnSpc>
                <a:spcPct val="100000"/>
              </a:lnSpc>
              <a:spcBef>
                <a:spcPct val="0"/>
              </a:spcBef>
              <a:spcAft>
                <a:spcPct val="0"/>
              </a:spcAft>
              <a:buClrTx/>
              <a:buSzTx/>
            </a:pPr>
            <a:endParaRPr lang="en-US" altLang="en-US"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r>
              <a:rPr lang="en-US" altLang="en-US" dirty="0">
                <a:solidFill>
                  <a:schemeClr val="tx1"/>
                </a:solidFill>
                <a:latin typeface="Times New Roman" panose="02020603050405020304" pitchFamily="18" charset="0"/>
                <a:cs typeface="Times New Roman" panose="02020603050405020304" pitchFamily="18" charset="0"/>
              </a:rPr>
              <a:t>Importing tables in the correct order,</a:t>
            </a:r>
          </a:p>
          <a:p>
            <a:pPr marL="0" lvl="0" indent="0" eaLnBrk="0" fontAlgn="base" hangingPunct="0">
              <a:lnSpc>
                <a:spcPct val="100000"/>
              </a:lnSpc>
              <a:spcBef>
                <a:spcPct val="0"/>
              </a:spcBef>
              <a:spcAft>
                <a:spcPct val="0"/>
              </a:spcAft>
              <a:buClrTx/>
              <a:buSzTx/>
              <a:buFontTx/>
              <a:buChar char="•"/>
            </a:pPr>
            <a:endParaRPr lang="en-US" altLang="en-US"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r>
              <a:rPr lang="en-US" altLang="en-US" dirty="0">
                <a:solidFill>
                  <a:schemeClr val="tx1"/>
                </a:solidFill>
                <a:latin typeface="Times New Roman" panose="02020603050405020304" pitchFamily="18" charset="0"/>
                <a:cs typeface="Times New Roman" panose="02020603050405020304" pitchFamily="18" charset="0"/>
              </a:rPr>
              <a:t>Using STR_TO_DATE() to fix date format issues,</a:t>
            </a:r>
          </a:p>
          <a:p>
            <a:pPr marL="0" lvl="0" indent="0" eaLnBrk="0" fontAlgn="base" hangingPunct="0">
              <a:lnSpc>
                <a:spcPct val="100000"/>
              </a:lnSpc>
              <a:spcBef>
                <a:spcPct val="0"/>
              </a:spcBef>
              <a:spcAft>
                <a:spcPct val="0"/>
              </a:spcAft>
              <a:buClrTx/>
              <a:buSzTx/>
              <a:buFontTx/>
              <a:buChar char="•"/>
            </a:pPr>
            <a:endParaRPr lang="en-US" altLang="en-US"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r>
              <a:rPr lang="en-US" altLang="en-US" dirty="0">
                <a:solidFill>
                  <a:schemeClr val="tx1"/>
                </a:solidFill>
                <a:latin typeface="Times New Roman" panose="02020603050405020304" pitchFamily="18" charset="0"/>
                <a:cs typeface="Times New Roman" panose="02020603050405020304" pitchFamily="18" charset="0"/>
              </a:rPr>
              <a:t>Temporarily disabling foreign key checks.</a:t>
            </a:r>
          </a:p>
          <a:p>
            <a:pPr marL="0" lvl="0" indent="0" eaLnBrk="0" fontAlgn="base" hangingPunct="0">
              <a:lnSpc>
                <a:spcPct val="100000"/>
              </a:lnSpc>
              <a:spcBef>
                <a:spcPct val="0"/>
              </a:spcBef>
              <a:spcAft>
                <a:spcPct val="0"/>
              </a:spcAft>
              <a:buClrTx/>
              <a:buSzTx/>
            </a:pPr>
            <a:br>
              <a:rPr lang="en-US" altLang="en-US" dirty="0">
                <a:solidFill>
                  <a:schemeClr val="tx1"/>
                </a:solidFill>
                <a:latin typeface="Times New Roman" panose="02020603050405020304" pitchFamily="18" charset="0"/>
                <a:cs typeface="Times New Roman" panose="02020603050405020304" pitchFamily="18" charset="0"/>
              </a:rPr>
            </a:br>
            <a:r>
              <a:rPr lang="en-US" altLang="en-US" dirty="0">
                <a:solidFill>
                  <a:schemeClr val="tx1"/>
                </a:solidFill>
                <a:latin typeface="Times New Roman" panose="02020603050405020304" pitchFamily="18" charset="0"/>
                <a:cs typeface="Times New Roman" panose="02020603050405020304" pitchFamily="18" charset="0"/>
              </a:rPr>
              <a:t>This helped me understand database relationships better and improved my ability to write optimized SQL queries.</a:t>
            </a:r>
          </a:p>
          <a:p>
            <a:endParaRPr lang="en-IN" dirty="0"/>
          </a:p>
        </p:txBody>
      </p:sp>
    </p:spTree>
    <p:extLst>
      <p:ext uri="{BB962C8B-B14F-4D97-AF65-F5344CB8AC3E}">
        <p14:creationId xmlns:p14="http://schemas.microsoft.com/office/powerpoint/2010/main" val="4333922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1524</TotalTime>
  <Words>1221</Words>
  <Application>Microsoft Office PowerPoint</Application>
  <PresentationFormat>Widescreen</PresentationFormat>
  <Paragraphs>113</Paragraphs>
  <Slides>22</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Times New Roman</vt:lpstr>
      <vt:lpstr>Arial</vt:lpstr>
      <vt:lpstr>Calibri</vt:lpstr>
      <vt:lpstr>Lato Black</vt:lpstr>
      <vt:lpstr>Wingdings</vt:lpstr>
      <vt:lpstr>Libre Baskerville</vt:lpstr>
      <vt:lpstr>Office Theme</vt:lpstr>
      <vt:lpstr>MUSIC STORE MANAGEMENT SYSTEM</vt:lpstr>
      <vt:lpstr>About me </vt:lpstr>
      <vt:lpstr>Agenda</vt:lpstr>
      <vt:lpstr>OBJECTIVE</vt:lpstr>
      <vt:lpstr>ER DIAGRAM:</vt:lpstr>
      <vt:lpstr>Database Schema Explanation</vt:lpstr>
      <vt:lpstr>Key Analysis Questions (use cases)</vt:lpstr>
      <vt:lpstr>    SQL Query Results With Screenshots Or Summaries   🔹1. Who is the senior-most employee based on job title?</vt:lpstr>
      <vt:lpstr>🔹2. Which countries have the most invoices?</vt:lpstr>
      <vt:lpstr>🔹3. What are the top 3 highest invoice totals?</vt:lpstr>
      <vt:lpstr>🔹4. Which city has the best customers (based on total invoice amount)?</vt:lpstr>
      <vt:lpstr>🔹5. Who is the best customer (spent the most)?</vt:lpstr>
      <vt:lpstr>🔹6. All Rock Music listeners (with email, Firstname, Lastname)</vt:lpstr>
      <vt:lpstr>🔹7. Top 10 Rock Artists (based on song count)</vt:lpstr>
      <vt:lpstr>🔹8. Tracks longer than average duration</vt:lpstr>
      <vt:lpstr>🔹9. How much has each customer spent on the top-selling artist?</vt:lpstr>
      <vt:lpstr>🔹10. Most popular genre in each country</vt:lpstr>
      <vt:lpstr>🔹11. Top spending customer in each country</vt:lpstr>
      <vt:lpstr>Final Business Insights</vt:lpstr>
      <vt:lpstr>CONCLUSION</vt:lpstr>
      <vt:lpstr>Challenges &amp; Learnings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Ritesh Sonar</cp:lastModifiedBy>
  <cp:revision>11</cp:revision>
  <dcterms:created xsi:type="dcterms:W3CDTF">2021-02-16T05:19:01Z</dcterms:created>
  <dcterms:modified xsi:type="dcterms:W3CDTF">2025-06-11T07:19:47Z</dcterms:modified>
</cp:coreProperties>
</file>